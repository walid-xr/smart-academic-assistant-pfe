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Smart Academic Assistant, une application PFE full-stack pour gérer les devoirs.
En 10 minutes, je vais expliquer le problème, l'architecture, les rôles, le workflow IA avec n8n/Gemini, les tests, la sécurité, puis le scénario de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est simple : dans beaucoup de classes, la gestion des devoirs est dispersée.
Le professeur crée le travail, les étudiants rendent des fichiers, puis il faut corriger, donner du feedback et vérifier les comportements suspects.
Mon objectif est de regrouper tout cela dans une plateforme claire et démontrable.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suit un cycle très lisible.
Le professeur crée le devoir, soit sous forme de questions dans la plateforme, soit avec un fichier PDF.
L'étudiant répond avec du texte ou un PDF. Ensuite n8n orchestre l'analyse avec Gemini, et le résultat revient dans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résume les technologies utilisées.
Côté frontend, le projet utilise React avec Vite, Bootstrap et CSS.
Côté backend, il utilise Node.js, Express et des APIs REST sécurisées avec JWT.
La base de données est MySQL. L'automatisation IA est faite avec n8n et Gemini.
Pour la qualité, on utilise Vitest, Supertest et Playwright. Pour la sécurité : bcryptjs, Helmet, CORS, rate limiting et validation des entrées.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volontairement simple à expliquer.
Le frontend React communique avec l'API Express. L'API stocke les données dans MySQL et garde les fichiers dans le dossier uploads.
Pour l'intelligence artificielle, le backend ne parle pas directement avec Gemini. Il envoie la soumission à n8n, qui appelle Gemini puis renvoie le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plateforme est organisée autour de trois rôles.
L'administrateur sert à la gestion et à la supervision.
L'enseignant crée et publie les devoirs, puis analyse les résultats.
L'étudiant voit seulement les devoirs disponibles, soumet son travail et reçoit le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démonstration, je montre d'abord le compte enseignant.
Il crée un devoir, choisit le mode questionnaire ou PDF, puis publie.
Ensuite je passe au compte étudiant : il voit le devoir, répond ou dépose un fichier, et la plateforme lance l'analyse.
Enfin l'enseignant retrouve le résultat et peut revoir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est la couche d'automatisation.
Il reçoit la soumission via un webhook, prépare les données, extrait le contenu si c'est un PDF, puis appelle Gemini.
Gemini renvoie un JSON structuré avec le score, les sous-scores, le feedback en français et les alertes.
Le résultat est ensuite renvoyé au backend avec un secret dans le header x-n8n-secret.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partie tests, je présente trois niveaux.
Vitest couvre les composants React côté frontend.
Vitest et Supertest couvrent les APIs backend.
Playwright couvre le parcours complet dans le navigateur, ce qui est très utile pour prouver que la démo fonctionne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est présentée en deux blocs.
D'abord le contrôle d'accès : JWT, mots de passe hachés, routes protégées et rôles.
Ensuite le durcissement API : headers de sécurité, CORS, limitation de débit, validation, protection contre la pollution de paramètres, secret n8n et validation des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MySQL garde les éléments principaux de la plateforme.
Les utilisateurs et étudiants sont séparés des devoirs.
Les devoirs peuvent contenir des questions, les soumissions peuvent contenir des réponses, puis l'analyse IA est stockée dans une table dédiée.
Ce modèle permet de construire facilement les dashboards et l'historique.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sert de guide pendant la démo.
Je commence par lancer le projet avec npm run dev.
Ensuite je montre rapidement l'enseignant, la création du devoir, l'étudiant qui soumet, puis le résultat de l'analyse et le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 projet est intéressant parce qu'il montre une vraie chaîne complète.
Il ne s'arrête pas à une interface : il inclut l'API, la base de données, l'automatisation n8n, l'IA, la sécurité et une stratégie de tests.
Comme perspectives, on peut améliorer les rapports, le suivi de progression et les notifications temps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B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3B5C"/>
          </a:solidFill>
          <a:ln w="12700">
            <a:solidFill>
              <a:srgbClr val="133B5C"/>
            </a:solidFill>
            <a:prstDash val="solid"/>
          </a:ln>
        </p:spPr>
      </p:sp>
      <p:sp>
        <p:nvSpPr>
          <p:cNvPr id="3" name="Shape 1"/>
          <p:cNvSpPr/>
          <p:nvPr/>
        </p:nvSpPr>
        <p:spPr>
          <a:xfrm>
            <a:off x="0" y="6035040"/>
            <a:ext cx="12191695" cy="822960"/>
          </a:xfrm>
          <a:prstGeom prst="rect">
            <a:avLst/>
          </a:prstGeom>
          <a:solidFill>
            <a:srgbClr val="1B5E8C">
              <a:alpha val="85000"/>
            </a:srgbClr>
          </a:solidFill>
          <a:ln w="12700">
            <a:solidFill>
              <a:srgbClr val="1B5E8C">
                <a:alpha val="0"/>
              </a:srgbClr>
            </a:solidFill>
            <a:prstDash val="solid"/>
          </a:ln>
        </p:spPr>
      </p:sp>
      <p:sp>
        <p:nvSpPr>
          <p:cNvPr id="4" name="Shape 2"/>
          <p:cNvSpPr/>
          <p:nvPr/>
        </p:nvSpPr>
        <p:spPr>
          <a:xfrm>
            <a:off x="7635240" y="-777240"/>
            <a:ext cx="5303520" cy="5303520"/>
          </a:xfrm>
          <a:prstGeom prst="arc">
            <a:avLst/>
          </a:prstGeom>
          <a:solidFill>
            <a:srgbClr val="51C4B8">
              <a:alpha val="22000"/>
            </a:srgbClr>
          </a:solidFill>
          <a:ln w="12700">
            <a:solidFill>
              <a:srgbClr val="51C4B8">
                <a:alpha val="0"/>
              </a:srgbClr>
            </a:solidFill>
            <a:prstDash val="solid"/>
          </a:ln>
        </p:spPr>
      </p:sp>
      <p:sp>
        <p:nvSpPr>
          <p:cNvPr id="5" name="Shape 3"/>
          <p:cNvSpPr/>
          <p:nvPr/>
        </p:nvSpPr>
        <p:spPr>
          <a:xfrm>
            <a:off x="9692640" y="3931920"/>
            <a:ext cx="2926080" cy="2926080"/>
          </a:xfrm>
          <a:prstGeom prst="arc">
            <a:avLst/>
          </a:prstGeom>
          <a:solidFill>
            <a:srgbClr val="F0B44C">
              <a:alpha val="32000"/>
            </a:srgbClr>
          </a:solidFill>
          <a:ln w="12700">
            <a:solidFill>
              <a:srgbClr val="F0B44C">
                <a:alpha val="0"/>
              </a:srgbClr>
            </a:solidFill>
            <a:prstDash val="solid"/>
          </a:ln>
        </p:spPr>
      </p:sp>
      <p:pic>
        <p:nvPicPr>
          <p:cNvPr id="6"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8368" y="594360"/>
            <a:ext cx="1051560" cy="1051560"/>
          </a:xfrm>
          <a:prstGeom prst="rect">
            <a:avLst/>
          </a:prstGeom>
        </p:spPr>
      </p:pic>
      <p:sp>
        <p:nvSpPr>
          <p:cNvPr id="7" name="Text 4"/>
          <p:cNvSpPr/>
          <p:nvPr/>
        </p:nvSpPr>
        <p:spPr>
          <a:xfrm>
            <a:off x="658368" y="1828800"/>
            <a:ext cx="7132320" cy="5486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Smart Academic Assistant</a:t>
            </a:r>
            <a:endParaRPr lang="en-US" sz="3400" dirty="0"/>
          </a:p>
        </p:txBody>
      </p:sp>
      <p:sp>
        <p:nvSpPr>
          <p:cNvPr id="8" name="Text 5"/>
          <p:cNvSpPr/>
          <p:nvPr/>
        </p:nvSpPr>
        <p:spPr>
          <a:xfrm>
            <a:off x="685800" y="2542032"/>
            <a:ext cx="7223760" cy="411480"/>
          </a:xfrm>
          <a:prstGeom prst="rect">
            <a:avLst/>
          </a:prstGeom>
          <a:noFill/>
          <a:ln/>
        </p:spPr>
        <p:txBody>
          <a:bodyPr wrap="square" lIns="0" tIns="0" rIns="0" bIns="0" rtlCol="0" anchor="ctr">
            <a:normAutofit/>
          </a:bodyPr>
          <a:lstStyle/>
          <a:p>
            <a:pPr indent="0" marL="0">
              <a:buNone/>
            </a:pPr>
            <a:r>
              <a:rPr lang="en-US" sz="1500" dirty="0">
                <a:solidFill>
                  <a:srgbClr val="DCEBF5"/>
                </a:solidFill>
              </a:rPr>
              <a:t>Gestion intelligente des devoirs, feedback IA et détection des risques</a:t>
            </a:r>
            <a:endParaRPr lang="en-US" sz="1500" dirty="0"/>
          </a:p>
        </p:txBody>
      </p:sp>
      <p:sp>
        <p:nvSpPr>
          <p:cNvPr id="9" name="Text 6"/>
          <p:cNvSpPr/>
          <p:nvPr/>
        </p:nvSpPr>
        <p:spPr>
          <a:xfrm>
            <a:off x="685800" y="3246120"/>
            <a:ext cx="5303520" cy="292608"/>
          </a:xfrm>
          <a:prstGeom prst="rect">
            <a:avLst/>
          </a:prstGeom>
          <a:noFill/>
          <a:ln/>
        </p:spPr>
        <p:txBody>
          <a:bodyPr wrap="square" lIns="0" tIns="0" rIns="0" bIns="0" rtlCol="0" anchor="ctr"/>
          <a:lstStyle/>
          <a:p>
            <a:pPr indent="0" marL="0">
              <a:buNone/>
            </a:pPr>
            <a:r>
              <a:rPr lang="en-US" sz="1200" b="1" dirty="0">
                <a:solidFill>
                  <a:srgbClr val="F0B44C"/>
                </a:solidFill>
              </a:rPr>
              <a:t>Présentation PFE - Démo 10 minutes</a:t>
            </a:r>
            <a:endParaRPr lang="en-US" sz="1200" dirty="0"/>
          </a:p>
        </p:txBody>
      </p:sp>
      <p:sp>
        <p:nvSpPr>
          <p:cNvPr id="10" name="Text 7"/>
          <p:cNvSpPr/>
          <p:nvPr/>
        </p:nvSpPr>
        <p:spPr>
          <a:xfrm>
            <a:off x="685800" y="4407408"/>
            <a:ext cx="5120640" cy="658368"/>
          </a:xfrm>
          <a:prstGeom prst="rect">
            <a:avLst/>
          </a:prstGeom>
          <a:noFill/>
          <a:ln/>
        </p:spPr>
        <p:txBody>
          <a:bodyPr wrap="square" lIns="0" tIns="0" rIns="0" bIns="0" rtlCol="0" anchor="ctr">
            <a:normAutofit/>
          </a:bodyPr>
          <a:lstStyle/>
          <a:p>
            <a:pPr indent="0" marL="0">
              <a:buNone/>
            </a:pPr>
            <a:r>
              <a:rPr lang="en-US" sz="1400" b="1" dirty="0">
                <a:solidFill>
                  <a:srgbClr val="FFFFFF"/>
                </a:solidFill>
              </a:rPr>
              <a:t>Présenté par :</a:t>
            </a:r>
            <a:endParaRPr lang="en-US" sz="1400" dirty="0"/>
          </a:p>
          <a:p>
            <a:pPr indent="0" marL="0">
              <a:buNone/>
            </a:pPr>
            <a:r>
              <a:rPr lang="en-US" sz="1400" b="1" dirty="0">
                <a:solidFill>
                  <a:srgbClr val="FFFFFF"/>
                </a:solidFill>
              </a:rPr>
              <a:t>M. CHAROUNE Walid</a:t>
            </a:r>
            <a:endParaRPr lang="en-US" sz="1400" dirty="0"/>
          </a:p>
          <a:p>
            <a:pPr indent="0" marL="0">
              <a:buNone/>
            </a:pPr>
            <a:r>
              <a:rPr lang="en-US" sz="1400" b="1" dirty="0">
                <a:solidFill>
                  <a:srgbClr val="FFFFFF"/>
                </a:solidFill>
              </a:rPr>
              <a:t>M. CHAGOUTI Taquiou Allah</a:t>
            </a:r>
            <a:endParaRPr lang="en-US" sz="1400" dirty="0"/>
          </a:p>
        </p:txBody>
      </p:sp>
      <p:sp>
        <p:nvSpPr>
          <p:cNvPr id="11" name="Shape 8"/>
          <p:cNvSpPr/>
          <p:nvPr/>
        </p:nvSpPr>
        <p:spPr>
          <a:xfrm>
            <a:off x="685800" y="3858768"/>
            <a:ext cx="914400" cy="347472"/>
          </a:xfrm>
          <a:prstGeom prst="roundRect">
            <a:avLst>
              <a:gd name="adj" fmla="val 21053"/>
            </a:avLst>
          </a:prstGeom>
          <a:solidFill>
            <a:srgbClr val="256FA8"/>
          </a:solidFill>
          <a:ln w="12700">
            <a:solidFill>
              <a:srgbClr val="256FA8"/>
            </a:solidFill>
            <a:prstDash val="solid"/>
          </a:ln>
        </p:spPr>
      </p:sp>
      <p:sp>
        <p:nvSpPr>
          <p:cNvPr id="12" name="Text 9"/>
          <p:cNvSpPr/>
          <p:nvPr/>
        </p:nvSpPr>
        <p:spPr>
          <a:xfrm>
            <a:off x="795528" y="3941064"/>
            <a:ext cx="69494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React</a:t>
            </a:r>
            <a:endParaRPr lang="en-US" sz="950" dirty="0"/>
          </a:p>
        </p:txBody>
      </p:sp>
      <p:sp>
        <p:nvSpPr>
          <p:cNvPr id="13" name="Shape 10"/>
          <p:cNvSpPr/>
          <p:nvPr/>
        </p:nvSpPr>
        <p:spPr>
          <a:xfrm>
            <a:off x="1737360" y="3858768"/>
            <a:ext cx="1051560" cy="347472"/>
          </a:xfrm>
          <a:prstGeom prst="roundRect">
            <a:avLst>
              <a:gd name="adj" fmla="val 21053"/>
            </a:avLst>
          </a:prstGeom>
          <a:solidFill>
            <a:srgbClr val="51C4B8"/>
          </a:solidFill>
          <a:ln w="12700">
            <a:solidFill>
              <a:srgbClr val="51C4B8"/>
            </a:solidFill>
            <a:prstDash val="solid"/>
          </a:ln>
        </p:spPr>
      </p:sp>
      <p:sp>
        <p:nvSpPr>
          <p:cNvPr id="14" name="Text 11"/>
          <p:cNvSpPr/>
          <p:nvPr/>
        </p:nvSpPr>
        <p:spPr>
          <a:xfrm>
            <a:off x="1847088" y="3941064"/>
            <a:ext cx="832104" cy="146304"/>
          </a:xfrm>
          <a:prstGeom prst="rect">
            <a:avLst/>
          </a:prstGeom>
          <a:noFill/>
          <a:ln/>
        </p:spPr>
        <p:txBody>
          <a:bodyPr wrap="square" lIns="0" tIns="0" rIns="0" bIns="0" rtlCol="0" anchor="ctr">
            <a:normAutofit/>
          </a:bodyPr>
          <a:lstStyle/>
          <a:p>
            <a:pPr algn="ctr" indent="0" marL="0">
              <a:buNone/>
            </a:pPr>
            <a:r>
              <a:rPr lang="en-US" sz="950" b="1" dirty="0">
                <a:solidFill>
                  <a:srgbClr val="102A43"/>
                </a:solidFill>
              </a:rPr>
              <a:t>Express</a:t>
            </a:r>
            <a:endParaRPr lang="en-US" sz="950" dirty="0"/>
          </a:p>
        </p:txBody>
      </p:sp>
      <p:sp>
        <p:nvSpPr>
          <p:cNvPr id="15" name="Shape 12"/>
          <p:cNvSpPr/>
          <p:nvPr/>
        </p:nvSpPr>
        <p:spPr>
          <a:xfrm>
            <a:off x="2926080" y="3858768"/>
            <a:ext cx="960120" cy="347472"/>
          </a:xfrm>
          <a:prstGeom prst="roundRect">
            <a:avLst>
              <a:gd name="adj" fmla="val 21053"/>
            </a:avLst>
          </a:prstGeom>
          <a:solidFill>
            <a:srgbClr val="F0B44C"/>
          </a:solidFill>
          <a:ln w="12700">
            <a:solidFill>
              <a:srgbClr val="F0B44C"/>
            </a:solidFill>
            <a:prstDash val="solid"/>
          </a:ln>
        </p:spPr>
      </p:sp>
      <p:sp>
        <p:nvSpPr>
          <p:cNvPr id="16" name="Text 13"/>
          <p:cNvSpPr/>
          <p:nvPr/>
        </p:nvSpPr>
        <p:spPr>
          <a:xfrm>
            <a:off x="3035808" y="3941064"/>
            <a:ext cx="740664" cy="146304"/>
          </a:xfrm>
          <a:prstGeom prst="rect">
            <a:avLst/>
          </a:prstGeom>
          <a:noFill/>
          <a:ln/>
        </p:spPr>
        <p:txBody>
          <a:bodyPr wrap="square" lIns="0" tIns="0" rIns="0" bIns="0" rtlCol="0" anchor="ctr">
            <a:normAutofit/>
          </a:bodyPr>
          <a:lstStyle/>
          <a:p>
            <a:pPr algn="ctr" indent="0" marL="0">
              <a:buNone/>
            </a:pPr>
            <a:r>
              <a:rPr lang="en-US" sz="950" b="1" dirty="0">
                <a:solidFill>
                  <a:srgbClr val="102A43"/>
                </a:solidFill>
              </a:rPr>
              <a:t>MySQL</a:t>
            </a:r>
            <a:endParaRPr lang="en-US" sz="950" dirty="0"/>
          </a:p>
        </p:txBody>
      </p:sp>
      <p:sp>
        <p:nvSpPr>
          <p:cNvPr id="17" name="Shape 14"/>
          <p:cNvSpPr/>
          <p:nvPr/>
        </p:nvSpPr>
        <p:spPr>
          <a:xfrm>
            <a:off x="4023360" y="3858768"/>
            <a:ext cx="1508760" cy="347472"/>
          </a:xfrm>
          <a:prstGeom prst="roundRect">
            <a:avLst>
              <a:gd name="adj" fmla="val 21053"/>
            </a:avLst>
          </a:prstGeom>
          <a:solidFill>
            <a:srgbClr val="FFFFFF"/>
          </a:solidFill>
          <a:ln w="12700">
            <a:solidFill>
              <a:srgbClr val="FFFFFF"/>
            </a:solidFill>
            <a:prstDash val="solid"/>
          </a:ln>
        </p:spPr>
      </p:sp>
      <p:sp>
        <p:nvSpPr>
          <p:cNvPr id="18" name="Text 15"/>
          <p:cNvSpPr/>
          <p:nvPr/>
        </p:nvSpPr>
        <p:spPr>
          <a:xfrm>
            <a:off x="4133088" y="3941064"/>
            <a:ext cx="1289304" cy="146304"/>
          </a:xfrm>
          <a:prstGeom prst="rect">
            <a:avLst/>
          </a:prstGeom>
          <a:noFill/>
          <a:ln/>
        </p:spPr>
        <p:txBody>
          <a:bodyPr wrap="square" lIns="0" tIns="0" rIns="0" bIns="0" rtlCol="0" anchor="ctr">
            <a:normAutofit/>
          </a:bodyPr>
          <a:lstStyle/>
          <a:p>
            <a:pPr algn="ctr" indent="0" marL="0">
              <a:buNone/>
            </a:pPr>
            <a:r>
              <a:rPr lang="en-US" sz="950" b="1" dirty="0">
                <a:solidFill>
                  <a:srgbClr val="256FA8"/>
                </a:solidFill>
              </a:rPr>
              <a:t>n8n + Gemini</a:t>
            </a:r>
            <a:endParaRPr lang="en-US" sz="950" dirty="0"/>
          </a:p>
        </p:txBody>
      </p:sp>
      <p:sp>
        <p:nvSpPr>
          <p:cNvPr id="19" name="Text 16"/>
          <p:cNvSpPr/>
          <p:nvPr/>
        </p:nvSpPr>
        <p:spPr>
          <a:xfrm>
            <a:off x="685800" y="6291072"/>
            <a:ext cx="8046720" cy="228600"/>
          </a:xfrm>
          <a:prstGeom prst="rect">
            <a:avLst/>
          </a:prstGeom>
          <a:noFill/>
          <a:ln/>
        </p:spPr>
        <p:txBody>
          <a:bodyPr wrap="square" lIns="0" tIns="0" rIns="0" bIns="0" rtlCol="0" anchor="ctr"/>
          <a:lstStyle/>
          <a:p>
            <a:pPr indent="0" marL="0">
              <a:buNone/>
            </a:pPr>
            <a:r>
              <a:rPr lang="en-US" sz="1100" dirty="0">
                <a:solidFill>
                  <a:srgbClr val="FFFFFF"/>
                </a:solidFill>
              </a:rPr>
              <a:t>Objectif : montrer une plateforme académique complète, sécurisée et démontrable.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01 | Contexte</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Problématique et objectif</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594360" y="1417320"/>
            <a:ext cx="3566160" cy="1828800"/>
          </a:xfrm>
          <a:prstGeom prst="roundRect">
            <a:avLst>
              <a:gd name="adj" fmla="val 4000"/>
            </a:avLst>
          </a:prstGeom>
          <a:solidFill>
            <a:srgbClr val="FFFFFF"/>
          </a:solidFill>
          <a:ln w="12700">
            <a:solidFill>
              <a:srgbClr val="D8E4EE"/>
            </a:solidFill>
            <a:prstDash val="solid"/>
          </a:ln>
        </p:spPr>
      </p:sp>
      <p:sp>
        <p:nvSpPr>
          <p:cNvPr id="9" name="Shape 6"/>
          <p:cNvSpPr/>
          <p:nvPr/>
        </p:nvSpPr>
        <p:spPr>
          <a:xfrm>
            <a:off x="594360" y="1417320"/>
            <a:ext cx="73152" cy="1828800"/>
          </a:xfrm>
          <a:prstGeom prst="rect">
            <a:avLst/>
          </a:prstGeom>
          <a:solidFill>
            <a:srgbClr val="D9524A"/>
          </a:solidFill>
          <a:ln w="12700">
            <a:solidFill>
              <a:srgbClr val="D9524A"/>
            </a:solidFill>
            <a:prstDash val="solid"/>
          </a:ln>
        </p:spPr>
      </p:sp>
      <p:sp>
        <p:nvSpPr>
          <p:cNvPr id="10" name="Text 7"/>
          <p:cNvSpPr/>
          <p:nvPr/>
        </p:nvSpPr>
        <p:spPr>
          <a:xfrm>
            <a:off x="822960" y="1581912"/>
            <a:ext cx="315468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Problème</a:t>
            </a:r>
            <a:endParaRPr lang="en-US" sz="1600" dirty="0"/>
          </a:p>
        </p:txBody>
      </p:sp>
      <p:sp>
        <p:nvSpPr>
          <p:cNvPr id="11" name="Text 8"/>
          <p:cNvSpPr/>
          <p:nvPr/>
        </p:nvSpPr>
        <p:spPr>
          <a:xfrm>
            <a:off x="822960" y="2002536"/>
            <a:ext cx="3154680" cy="1078992"/>
          </a:xfrm>
          <a:prstGeom prst="rect">
            <a:avLst/>
          </a:prstGeom>
          <a:noFill/>
          <a:ln/>
        </p:spPr>
        <p:txBody>
          <a:bodyPr wrap="square" lIns="0" tIns="0" rIns="0" bIns="0" rtlCol="0" anchor="t">
            <a:normAutofit/>
          </a:bodyPr>
          <a:lstStyle/>
          <a:p>
            <a:pPr indent="0" marL="0">
              <a:buNone/>
            </a:pPr>
            <a:r>
              <a:rPr lang="en-US" sz="1400" dirty="0">
                <a:solidFill>
                  <a:srgbClr val="102A43"/>
                </a:solidFill>
              </a:rPr>
              <a:t>Trop de tâches manuelles : collecte, suivi, correction, feedback et risques de triche.</a:t>
            </a:r>
            <a:endParaRPr lang="en-US" sz="1400" dirty="0"/>
          </a:p>
        </p:txBody>
      </p:sp>
      <p:sp>
        <p:nvSpPr>
          <p:cNvPr id="12" name="Shape 9"/>
          <p:cNvSpPr/>
          <p:nvPr/>
        </p:nvSpPr>
        <p:spPr>
          <a:xfrm>
            <a:off x="4343400" y="1417320"/>
            <a:ext cx="3566160" cy="1828800"/>
          </a:xfrm>
          <a:prstGeom prst="roundRect">
            <a:avLst>
              <a:gd name="adj" fmla="val 4000"/>
            </a:avLst>
          </a:prstGeom>
          <a:solidFill>
            <a:srgbClr val="FFFFFF"/>
          </a:solidFill>
          <a:ln w="12700">
            <a:solidFill>
              <a:srgbClr val="D8E4EE"/>
            </a:solidFill>
            <a:prstDash val="solid"/>
          </a:ln>
        </p:spPr>
      </p:sp>
      <p:sp>
        <p:nvSpPr>
          <p:cNvPr id="13" name="Shape 10"/>
          <p:cNvSpPr/>
          <p:nvPr/>
        </p:nvSpPr>
        <p:spPr>
          <a:xfrm>
            <a:off x="4343400" y="1417320"/>
            <a:ext cx="73152" cy="1828800"/>
          </a:xfrm>
          <a:prstGeom prst="rect">
            <a:avLst/>
          </a:prstGeom>
          <a:solidFill>
            <a:srgbClr val="256FA8"/>
          </a:solidFill>
          <a:ln w="12700">
            <a:solidFill>
              <a:srgbClr val="256FA8"/>
            </a:solidFill>
            <a:prstDash val="solid"/>
          </a:ln>
        </p:spPr>
      </p:sp>
      <p:sp>
        <p:nvSpPr>
          <p:cNvPr id="14" name="Text 11"/>
          <p:cNvSpPr/>
          <p:nvPr/>
        </p:nvSpPr>
        <p:spPr>
          <a:xfrm>
            <a:off x="4572000" y="1581912"/>
            <a:ext cx="315468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Objectif</a:t>
            </a:r>
            <a:endParaRPr lang="en-US" sz="1600" dirty="0"/>
          </a:p>
        </p:txBody>
      </p:sp>
      <p:sp>
        <p:nvSpPr>
          <p:cNvPr id="15" name="Text 12"/>
          <p:cNvSpPr/>
          <p:nvPr/>
        </p:nvSpPr>
        <p:spPr>
          <a:xfrm>
            <a:off x="4572000" y="2002536"/>
            <a:ext cx="3154680" cy="1078992"/>
          </a:xfrm>
          <a:prstGeom prst="rect">
            <a:avLst/>
          </a:prstGeom>
          <a:noFill/>
          <a:ln/>
        </p:spPr>
        <p:txBody>
          <a:bodyPr wrap="square" lIns="0" tIns="0" rIns="0" bIns="0" rtlCol="0" anchor="t">
            <a:normAutofit/>
          </a:bodyPr>
          <a:lstStyle/>
          <a:p>
            <a:pPr indent="0" marL="0">
              <a:buNone/>
            </a:pPr>
            <a:r>
              <a:rPr lang="en-US" sz="1400" dirty="0">
                <a:solidFill>
                  <a:srgbClr val="102A43"/>
                </a:solidFill>
              </a:rPr>
              <a:t>Une seule plateforme pour créer, soumettre, analyser et consulter les résultats.</a:t>
            </a:r>
            <a:endParaRPr lang="en-US" sz="1400" dirty="0"/>
          </a:p>
        </p:txBody>
      </p:sp>
      <p:sp>
        <p:nvSpPr>
          <p:cNvPr id="16" name="Shape 13"/>
          <p:cNvSpPr/>
          <p:nvPr/>
        </p:nvSpPr>
        <p:spPr>
          <a:xfrm>
            <a:off x="8092440" y="1417320"/>
            <a:ext cx="3429000" cy="1828800"/>
          </a:xfrm>
          <a:prstGeom prst="roundRect">
            <a:avLst>
              <a:gd name="adj" fmla="val 4000"/>
            </a:avLst>
          </a:prstGeom>
          <a:solidFill>
            <a:srgbClr val="FFFFFF"/>
          </a:solidFill>
          <a:ln w="12700">
            <a:solidFill>
              <a:srgbClr val="D8E4EE"/>
            </a:solidFill>
            <a:prstDash val="solid"/>
          </a:ln>
        </p:spPr>
      </p:sp>
      <p:sp>
        <p:nvSpPr>
          <p:cNvPr id="17" name="Shape 14"/>
          <p:cNvSpPr/>
          <p:nvPr/>
        </p:nvSpPr>
        <p:spPr>
          <a:xfrm>
            <a:off x="8092440" y="1417320"/>
            <a:ext cx="73152" cy="182880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Valeur PFE</a:t>
            </a:r>
            <a:endParaRPr lang="en-US" sz="1600" dirty="0"/>
          </a:p>
        </p:txBody>
      </p:sp>
      <p:sp>
        <p:nvSpPr>
          <p:cNvPr id="19" name="Text 16"/>
          <p:cNvSpPr/>
          <p:nvPr/>
        </p:nvSpPr>
        <p:spPr>
          <a:xfrm>
            <a:off x="8321040" y="2002536"/>
            <a:ext cx="3017520" cy="1078992"/>
          </a:xfrm>
          <a:prstGeom prst="rect">
            <a:avLst/>
          </a:prstGeom>
          <a:noFill/>
          <a:ln/>
        </p:spPr>
        <p:txBody>
          <a:bodyPr wrap="square" lIns="0" tIns="0" rIns="0" bIns="0" rtlCol="0" anchor="t">
            <a:normAutofit/>
          </a:bodyPr>
          <a:lstStyle/>
          <a:p>
            <a:pPr indent="0" marL="0">
              <a:buNone/>
            </a:pPr>
            <a:r>
              <a:rPr lang="en-US" sz="1400" dirty="0">
                <a:solidFill>
                  <a:srgbClr val="102A43"/>
                </a:solidFill>
              </a:rPr>
              <a:t>Un vrai projet full-stack : React, Express, MySQL, n8n, IA, sécurité et tests.</a:t>
            </a:r>
            <a:endParaRPr lang="en-US" sz="1400" dirty="0"/>
          </a:p>
        </p:txBody>
      </p:sp>
      <p:sp>
        <p:nvSpPr>
          <p:cNvPr id="20" name="Text 17"/>
          <p:cNvSpPr/>
          <p:nvPr/>
        </p:nvSpPr>
        <p:spPr>
          <a:xfrm>
            <a:off x="594360" y="3858768"/>
            <a:ext cx="1828800" cy="274320"/>
          </a:xfrm>
          <a:prstGeom prst="rect">
            <a:avLst/>
          </a:prstGeom>
          <a:noFill/>
          <a:ln/>
        </p:spPr>
        <p:txBody>
          <a:bodyPr wrap="square" lIns="0" tIns="0" rIns="0" bIns="0" rtlCol="0" anchor="ctr"/>
          <a:lstStyle/>
          <a:p>
            <a:pPr indent="0" marL="0">
              <a:buNone/>
            </a:pPr>
            <a:r>
              <a:rPr lang="en-US" sz="1200" b="1" dirty="0">
                <a:solidFill>
                  <a:srgbClr val="256FA8"/>
                </a:solidFill>
              </a:rPr>
              <a:t>Idée clé</a:t>
            </a:r>
            <a:endParaRPr lang="en-US" sz="1200" dirty="0"/>
          </a:p>
        </p:txBody>
      </p:sp>
      <p:sp>
        <p:nvSpPr>
          <p:cNvPr id="21" name="Text 18"/>
          <p:cNvSpPr/>
          <p:nvPr/>
        </p:nvSpPr>
        <p:spPr>
          <a:xfrm>
            <a:off x="594360" y="4224528"/>
            <a:ext cx="10515600" cy="64008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Un devoir suit un cycle simple : publier -&gt; soumettre -&gt; analyser -&gt; corriger.</a:t>
            </a:r>
            <a:endParaRPr lang="en-US" sz="2800" dirty="0"/>
          </a:p>
        </p:txBody>
      </p:sp>
      <p:sp>
        <p:nvSpPr>
          <p:cNvPr id="22" name="Text 19"/>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0:45</a:t>
            </a:r>
            <a:endParaRPr lang="en-US" sz="780" dirty="0"/>
          </a:p>
        </p:txBody>
      </p:sp>
      <p:sp>
        <p:nvSpPr>
          <p:cNvPr id="23" name="Text 20"/>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02 | Fonctionnalités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Vue globale de la solution</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658368" y="1417320"/>
            <a:ext cx="1828800" cy="566928"/>
          </a:xfrm>
          <a:prstGeom prst="roundRect">
            <a:avLst>
              <a:gd name="adj" fmla="val 12903"/>
            </a:avLst>
          </a:prstGeom>
          <a:solidFill>
            <a:srgbClr val="256FA8"/>
          </a:solidFill>
          <a:ln w="12700">
            <a:solidFill>
              <a:srgbClr val="256FA8"/>
            </a:solidFill>
            <a:prstDash val="solid"/>
          </a:ln>
        </p:spPr>
      </p:sp>
      <p:sp>
        <p:nvSpPr>
          <p:cNvPr id="9" name="Text 6"/>
          <p:cNvSpPr/>
          <p:nvPr/>
        </p:nvSpPr>
        <p:spPr>
          <a:xfrm>
            <a:off x="731520" y="1563624"/>
            <a:ext cx="16824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Créer un devoir</a:t>
            </a:r>
            <a:endParaRPr lang="en-US" sz="1150" dirty="0"/>
          </a:p>
          <a:p>
            <a:pPr algn="ctr" indent="0" marL="0">
              <a:buNone/>
            </a:pPr>
            <a:r>
              <a:rPr lang="en-US" sz="1150" b="1" dirty="0">
                <a:solidFill>
                  <a:srgbClr val="FFFFFF"/>
                </a:solidFill>
              </a:rPr>
              <a:t>questionnaire ou PDF</a:t>
            </a:r>
            <a:endParaRPr lang="en-US" sz="1150" dirty="0"/>
          </a:p>
        </p:txBody>
      </p:sp>
      <p:sp>
        <p:nvSpPr>
          <p:cNvPr id="10" name="Shape 7"/>
          <p:cNvSpPr/>
          <p:nvPr/>
        </p:nvSpPr>
        <p:spPr>
          <a:xfrm>
            <a:off x="2578608" y="1700784"/>
            <a:ext cx="484632" cy="0"/>
          </a:xfrm>
          <a:prstGeom prst="line">
            <a:avLst/>
          </a:prstGeom>
          <a:noFill/>
          <a:ln w="22860">
            <a:solidFill>
              <a:srgbClr val="256FA8"/>
            </a:solidFill>
            <a:prstDash val="solid"/>
            <a:headEnd type="none"/>
            <a:tailEnd type="triangle"/>
          </a:ln>
        </p:spPr>
      </p:sp>
      <p:sp>
        <p:nvSpPr>
          <p:cNvPr id="11" name="Shape 8"/>
          <p:cNvSpPr/>
          <p:nvPr/>
        </p:nvSpPr>
        <p:spPr>
          <a:xfrm>
            <a:off x="3127248" y="1417320"/>
            <a:ext cx="1508760" cy="566928"/>
          </a:xfrm>
          <a:prstGeom prst="roundRect">
            <a:avLst>
              <a:gd name="adj" fmla="val 12903"/>
            </a:avLst>
          </a:prstGeom>
          <a:solidFill>
            <a:srgbClr val="51C4B8"/>
          </a:solidFill>
          <a:ln w="12700">
            <a:solidFill>
              <a:srgbClr val="51C4B8"/>
            </a:solidFill>
            <a:prstDash val="solid"/>
          </a:ln>
        </p:spPr>
      </p:sp>
      <p:sp>
        <p:nvSpPr>
          <p:cNvPr id="12" name="Text 9"/>
          <p:cNvSpPr/>
          <p:nvPr/>
        </p:nvSpPr>
        <p:spPr>
          <a:xfrm>
            <a:off x="3200400" y="1563624"/>
            <a:ext cx="136245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Publier aux</a:t>
            </a:r>
            <a:endParaRPr lang="en-US" sz="1150" dirty="0"/>
          </a:p>
          <a:p>
            <a:pPr algn="ctr" indent="0" marL="0">
              <a:buNone/>
            </a:pPr>
            <a:r>
              <a:rPr lang="en-US" sz="1150" b="1" dirty="0">
                <a:solidFill>
                  <a:srgbClr val="FFFFFF"/>
                </a:solidFill>
              </a:rPr>
              <a:t>étudiants</a:t>
            </a:r>
            <a:endParaRPr lang="en-US" sz="1150" dirty="0"/>
          </a:p>
        </p:txBody>
      </p:sp>
      <p:sp>
        <p:nvSpPr>
          <p:cNvPr id="13" name="Shape 10"/>
          <p:cNvSpPr/>
          <p:nvPr/>
        </p:nvSpPr>
        <p:spPr>
          <a:xfrm>
            <a:off x="4718304" y="1700784"/>
            <a:ext cx="539496" cy="0"/>
          </a:xfrm>
          <a:prstGeom prst="line">
            <a:avLst/>
          </a:prstGeom>
          <a:noFill/>
          <a:ln w="22860">
            <a:solidFill>
              <a:srgbClr val="256FA8"/>
            </a:solidFill>
            <a:prstDash val="solid"/>
            <a:headEnd type="none"/>
            <a:tailEnd type="triangle"/>
          </a:ln>
        </p:spPr>
      </p:sp>
      <p:sp>
        <p:nvSpPr>
          <p:cNvPr id="14" name="Shape 11"/>
          <p:cNvSpPr/>
          <p:nvPr/>
        </p:nvSpPr>
        <p:spPr>
          <a:xfrm>
            <a:off x="5349240" y="1417320"/>
            <a:ext cx="1828800" cy="566928"/>
          </a:xfrm>
          <a:prstGeom prst="roundRect">
            <a:avLst>
              <a:gd name="adj" fmla="val 12903"/>
            </a:avLst>
          </a:prstGeom>
          <a:solidFill>
            <a:srgbClr val="F0B44C"/>
          </a:solidFill>
          <a:ln w="12700">
            <a:solidFill>
              <a:srgbClr val="F0B44C"/>
            </a:solidFill>
            <a:prstDash val="solid"/>
          </a:ln>
        </p:spPr>
      </p:sp>
      <p:sp>
        <p:nvSpPr>
          <p:cNvPr id="15" name="Text 12"/>
          <p:cNvSpPr/>
          <p:nvPr/>
        </p:nvSpPr>
        <p:spPr>
          <a:xfrm>
            <a:off x="5422392" y="1563624"/>
            <a:ext cx="16824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Soumettre réponse</a:t>
            </a:r>
            <a:endParaRPr lang="en-US" sz="1150" dirty="0"/>
          </a:p>
          <a:p>
            <a:pPr algn="ctr" indent="0" marL="0">
              <a:buNone/>
            </a:pPr>
            <a:r>
              <a:rPr lang="en-US" sz="1150" b="1" dirty="0">
                <a:solidFill>
                  <a:srgbClr val="FFFFFF"/>
                </a:solidFill>
              </a:rPr>
              <a:t>texte ou PDF</a:t>
            </a:r>
            <a:endParaRPr lang="en-US" sz="1150" dirty="0"/>
          </a:p>
        </p:txBody>
      </p:sp>
      <p:sp>
        <p:nvSpPr>
          <p:cNvPr id="16" name="Shape 13"/>
          <p:cNvSpPr/>
          <p:nvPr/>
        </p:nvSpPr>
        <p:spPr>
          <a:xfrm>
            <a:off x="7269480" y="1700784"/>
            <a:ext cx="502920" cy="0"/>
          </a:xfrm>
          <a:prstGeom prst="line">
            <a:avLst/>
          </a:prstGeom>
          <a:noFill/>
          <a:ln w="22860">
            <a:solidFill>
              <a:srgbClr val="256FA8"/>
            </a:solidFill>
            <a:prstDash val="solid"/>
            <a:headEnd type="none"/>
            <a:tailEnd type="triangle"/>
          </a:ln>
        </p:spPr>
      </p:sp>
      <p:sp>
        <p:nvSpPr>
          <p:cNvPr id="17" name="Shape 14"/>
          <p:cNvSpPr/>
          <p:nvPr/>
        </p:nvSpPr>
        <p:spPr>
          <a:xfrm>
            <a:off x="7863840" y="1417320"/>
            <a:ext cx="1600200" cy="566928"/>
          </a:xfrm>
          <a:prstGeom prst="roundRect">
            <a:avLst>
              <a:gd name="adj" fmla="val 12903"/>
            </a:avLst>
          </a:prstGeom>
          <a:solidFill>
            <a:srgbClr val="133B5C"/>
          </a:solidFill>
          <a:ln w="12700">
            <a:solidFill>
              <a:srgbClr val="133B5C"/>
            </a:solidFill>
            <a:prstDash val="solid"/>
          </a:ln>
        </p:spPr>
      </p:sp>
      <p:sp>
        <p:nvSpPr>
          <p:cNvPr id="18" name="Text 15"/>
          <p:cNvSpPr/>
          <p:nvPr/>
        </p:nvSpPr>
        <p:spPr>
          <a:xfrm>
            <a:off x="7936992" y="1563624"/>
            <a:ext cx="14538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Analyser avec</a:t>
            </a:r>
            <a:endParaRPr lang="en-US" sz="1150" dirty="0"/>
          </a:p>
          <a:p>
            <a:pPr algn="ctr" indent="0" marL="0">
              <a:buNone/>
            </a:pPr>
            <a:r>
              <a:rPr lang="en-US" sz="1150" b="1" dirty="0">
                <a:solidFill>
                  <a:srgbClr val="FFFFFF"/>
                </a:solidFill>
              </a:rPr>
              <a:t>n8n + IA</a:t>
            </a:r>
            <a:endParaRPr lang="en-US" sz="1150" dirty="0"/>
          </a:p>
        </p:txBody>
      </p:sp>
      <p:sp>
        <p:nvSpPr>
          <p:cNvPr id="19" name="Shape 16"/>
          <p:cNvSpPr/>
          <p:nvPr/>
        </p:nvSpPr>
        <p:spPr>
          <a:xfrm>
            <a:off x="9555480" y="1700784"/>
            <a:ext cx="457200" cy="0"/>
          </a:xfrm>
          <a:prstGeom prst="line">
            <a:avLst/>
          </a:prstGeom>
          <a:noFill/>
          <a:ln w="22860">
            <a:solidFill>
              <a:srgbClr val="256FA8"/>
            </a:solidFill>
            <a:prstDash val="solid"/>
            <a:headEnd type="none"/>
            <a:tailEnd type="triangle"/>
          </a:ln>
        </p:spPr>
      </p:sp>
      <p:sp>
        <p:nvSpPr>
          <p:cNvPr id="20" name="Shape 17"/>
          <p:cNvSpPr/>
          <p:nvPr/>
        </p:nvSpPr>
        <p:spPr>
          <a:xfrm>
            <a:off x="10104120" y="1417320"/>
            <a:ext cx="1645920" cy="566928"/>
          </a:xfrm>
          <a:prstGeom prst="roundRect">
            <a:avLst>
              <a:gd name="adj" fmla="val 12903"/>
            </a:avLst>
          </a:prstGeom>
          <a:solidFill>
            <a:srgbClr val="2E8B57"/>
          </a:solidFill>
          <a:ln w="12700">
            <a:solidFill>
              <a:srgbClr val="2E8B57"/>
            </a:solidFill>
            <a:prstDash val="solid"/>
          </a:ln>
        </p:spPr>
      </p:sp>
      <p:sp>
        <p:nvSpPr>
          <p:cNvPr id="21" name="Text 18"/>
          <p:cNvSpPr/>
          <p:nvPr/>
        </p:nvSpPr>
        <p:spPr>
          <a:xfrm>
            <a:off x="10177272" y="1563624"/>
            <a:ext cx="149961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Afficher score,</a:t>
            </a:r>
            <a:endParaRPr lang="en-US" sz="1150" dirty="0"/>
          </a:p>
          <a:p>
            <a:pPr algn="ctr" indent="0" marL="0">
              <a:buNone/>
            </a:pPr>
            <a:r>
              <a:rPr lang="en-US" sz="1150" b="1" dirty="0">
                <a:solidFill>
                  <a:srgbClr val="FFFFFF"/>
                </a:solidFill>
              </a:rPr>
              <a:t>feedback, alertes</a:t>
            </a:r>
            <a:endParaRPr lang="en-US" sz="1150" dirty="0"/>
          </a:p>
        </p:txBody>
      </p:sp>
      <p:sp>
        <p:nvSpPr>
          <p:cNvPr id="22" name="Shape 19"/>
          <p:cNvSpPr/>
          <p:nvPr/>
        </p:nvSpPr>
        <p:spPr>
          <a:xfrm>
            <a:off x="685800" y="2926080"/>
            <a:ext cx="3246120" cy="1965960"/>
          </a:xfrm>
          <a:prstGeom prst="roundRect">
            <a:avLst>
              <a:gd name="adj" fmla="val 3721"/>
            </a:avLst>
          </a:prstGeom>
          <a:solidFill>
            <a:srgbClr val="FFFFFF"/>
          </a:solidFill>
          <a:ln w="12700">
            <a:solidFill>
              <a:srgbClr val="D8E4EE"/>
            </a:solidFill>
            <a:prstDash val="solid"/>
          </a:ln>
        </p:spPr>
      </p:sp>
      <p:sp>
        <p:nvSpPr>
          <p:cNvPr id="23" name="Shape 20"/>
          <p:cNvSpPr/>
          <p:nvPr/>
        </p:nvSpPr>
        <p:spPr>
          <a:xfrm>
            <a:off x="685800" y="2926080"/>
            <a:ext cx="73152" cy="1965960"/>
          </a:xfrm>
          <a:prstGeom prst="rect">
            <a:avLst/>
          </a:prstGeom>
          <a:solidFill>
            <a:srgbClr val="256FA8"/>
          </a:solidFill>
          <a:ln w="12700">
            <a:solidFill>
              <a:srgbClr val="256FA8"/>
            </a:solidFill>
            <a:prstDash val="solid"/>
          </a:ln>
        </p:spPr>
      </p:sp>
      <p:sp>
        <p:nvSpPr>
          <p:cNvPr id="24" name="Text 21"/>
          <p:cNvSpPr/>
          <p:nvPr/>
        </p:nvSpPr>
        <p:spPr>
          <a:xfrm>
            <a:off x="914400" y="3090672"/>
            <a:ext cx="283464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Interface enseignant</a:t>
            </a:r>
            <a:endParaRPr lang="en-US" sz="1600" dirty="0"/>
          </a:p>
        </p:txBody>
      </p:sp>
      <p:sp>
        <p:nvSpPr>
          <p:cNvPr id="25" name="Text 22"/>
          <p:cNvSpPr/>
          <p:nvPr/>
        </p:nvSpPr>
        <p:spPr>
          <a:xfrm>
            <a:off x="914400" y="3511296"/>
            <a:ext cx="2834640" cy="1216152"/>
          </a:xfrm>
          <a:prstGeom prst="rect">
            <a:avLst/>
          </a:prstGeom>
          <a:noFill/>
          <a:ln/>
        </p:spPr>
        <p:txBody>
          <a:bodyPr wrap="square" lIns="0" tIns="0" rIns="0" bIns="0" rtlCol="0" anchor="t">
            <a:normAutofit/>
          </a:bodyPr>
          <a:lstStyle/>
          <a:p>
            <a:pPr indent="0" marL="0">
              <a:buNone/>
            </a:pPr>
            <a:r>
              <a:rPr lang="en-US" sz="1400" dirty="0">
                <a:solidFill>
                  <a:srgbClr val="102A43"/>
                </a:solidFill>
              </a:rPr>
              <a:t>Créer et publier les devoirs.</a:t>
            </a:r>
            <a:endParaRPr lang="en-US" sz="1400" dirty="0"/>
          </a:p>
          <a:p>
            <a:pPr indent="0" marL="0">
              <a:buNone/>
            </a:pPr>
            <a:r>
              <a:rPr lang="en-US" sz="1400" dirty="0">
                <a:solidFill>
                  <a:srgbClr val="102A43"/>
                </a:solidFill>
              </a:rPr>
              <a:t>Voir les soumissions.</a:t>
            </a:r>
            <a:endParaRPr lang="en-US" sz="1400" dirty="0"/>
          </a:p>
          <a:p>
            <a:pPr indent="0" marL="0">
              <a:buNone/>
            </a:pPr>
            <a:r>
              <a:rPr lang="en-US" sz="1400" dirty="0">
                <a:solidFill>
                  <a:srgbClr val="102A43"/>
                </a:solidFill>
              </a:rPr>
              <a:t>Consulter les alertes.</a:t>
            </a:r>
            <a:endParaRPr lang="en-US" sz="1400" dirty="0"/>
          </a:p>
        </p:txBody>
      </p:sp>
      <p:sp>
        <p:nvSpPr>
          <p:cNvPr id="26" name="Shape 23"/>
          <p:cNvSpPr/>
          <p:nvPr/>
        </p:nvSpPr>
        <p:spPr>
          <a:xfrm>
            <a:off x="4251960" y="2926080"/>
            <a:ext cx="3246120" cy="1965960"/>
          </a:xfrm>
          <a:prstGeom prst="roundRect">
            <a:avLst>
              <a:gd name="adj" fmla="val 3721"/>
            </a:avLst>
          </a:prstGeom>
          <a:solidFill>
            <a:srgbClr val="FFFFFF"/>
          </a:solidFill>
          <a:ln w="12700">
            <a:solidFill>
              <a:srgbClr val="D8E4EE"/>
            </a:solidFill>
            <a:prstDash val="solid"/>
          </a:ln>
        </p:spPr>
      </p:sp>
      <p:sp>
        <p:nvSpPr>
          <p:cNvPr id="27" name="Shape 24"/>
          <p:cNvSpPr/>
          <p:nvPr/>
        </p:nvSpPr>
        <p:spPr>
          <a:xfrm>
            <a:off x="4251960" y="2926080"/>
            <a:ext cx="73152" cy="1965960"/>
          </a:xfrm>
          <a:prstGeom prst="rect">
            <a:avLst/>
          </a:prstGeom>
          <a:solidFill>
            <a:srgbClr val="51C4B8"/>
          </a:solidFill>
          <a:ln w="12700">
            <a:solidFill>
              <a:srgbClr val="51C4B8"/>
            </a:solidFill>
            <a:prstDash val="solid"/>
          </a:ln>
        </p:spPr>
      </p:sp>
      <p:sp>
        <p:nvSpPr>
          <p:cNvPr id="28" name="Text 25"/>
          <p:cNvSpPr/>
          <p:nvPr/>
        </p:nvSpPr>
        <p:spPr>
          <a:xfrm>
            <a:off x="4480560" y="3090672"/>
            <a:ext cx="283464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Interface étudiant</a:t>
            </a:r>
            <a:endParaRPr lang="en-US" sz="1600" dirty="0"/>
          </a:p>
        </p:txBody>
      </p:sp>
      <p:sp>
        <p:nvSpPr>
          <p:cNvPr id="29" name="Text 26"/>
          <p:cNvSpPr/>
          <p:nvPr/>
        </p:nvSpPr>
        <p:spPr>
          <a:xfrm>
            <a:off x="4480560" y="3511296"/>
            <a:ext cx="2834640" cy="1216152"/>
          </a:xfrm>
          <a:prstGeom prst="rect">
            <a:avLst/>
          </a:prstGeom>
          <a:noFill/>
          <a:ln/>
        </p:spPr>
        <p:txBody>
          <a:bodyPr wrap="square" lIns="0" tIns="0" rIns="0" bIns="0" rtlCol="0" anchor="t">
            <a:normAutofit/>
          </a:bodyPr>
          <a:lstStyle/>
          <a:p>
            <a:pPr indent="0" marL="0">
              <a:buNone/>
            </a:pPr>
            <a:r>
              <a:rPr lang="en-US" sz="1400" dirty="0">
                <a:solidFill>
                  <a:srgbClr val="102A43"/>
                </a:solidFill>
              </a:rPr>
              <a:t>Voir les devoirs.</a:t>
            </a:r>
            <a:endParaRPr lang="en-US" sz="1400" dirty="0"/>
          </a:p>
          <a:p>
            <a:pPr indent="0" marL="0">
              <a:buNone/>
            </a:pPr>
            <a:r>
              <a:rPr lang="en-US" sz="1400" dirty="0">
                <a:solidFill>
                  <a:srgbClr val="102A43"/>
                </a:solidFill>
              </a:rPr>
              <a:t>Répondre en texte ou PDF.</a:t>
            </a:r>
            <a:endParaRPr lang="en-US" sz="1400" dirty="0"/>
          </a:p>
          <a:p>
            <a:pPr indent="0" marL="0">
              <a:buNone/>
            </a:pPr>
            <a:r>
              <a:rPr lang="en-US" sz="1400" dirty="0">
                <a:solidFill>
                  <a:srgbClr val="102A43"/>
                </a:solidFill>
              </a:rPr>
              <a:t>Lire le feedback.</a:t>
            </a:r>
            <a:endParaRPr lang="en-US" sz="1400" dirty="0"/>
          </a:p>
        </p:txBody>
      </p:sp>
      <p:sp>
        <p:nvSpPr>
          <p:cNvPr id="30" name="Shape 27"/>
          <p:cNvSpPr/>
          <p:nvPr/>
        </p:nvSpPr>
        <p:spPr>
          <a:xfrm>
            <a:off x="7818120" y="2926080"/>
            <a:ext cx="3337560" cy="1965960"/>
          </a:xfrm>
          <a:prstGeom prst="roundRect">
            <a:avLst>
              <a:gd name="adj" fmla="val 3721"/>
            </a:avLst>
          </a:prstGeom>
          <a:solidFill>
            <a:srgbClr val="FFFFFF"/>
          </a:solidFill>
          <a:ln w="12700">
            <a:solidFill>
              <a:srgbClr val="D8E4EE"/>
            </a:solidFill>
            <a:prstDash val="solid"/>
          </a:ln>
        </p:spPr>
      </p:sp>
      <p:sp>
        <p:nvSpPr>
          <p:cNvPr id="31" name="Shape 28"/>
          <p:cNvSpPr/>
          <p:nvPr/>
        </p:nvSpPr>
        <p:spPr>
          <a:xfrm>
            <a:off x="7818120" y="2926080"/>
            <a:ext cx="73152" cy="1965960"/>
          </a:xfrm>
          <a:prstGeom prst="rect">
            <a:avLst/>
          </a:prstGeom>
          <a:solidFill>
            <a:srgbClr val="F0B44C"/>
          </a:solidFill>
          <a:ln w="12700">
            <a:solidFill>
              <a:srgbClr val="F0B44C"/>
            </a:solidFill>
            <a:prstDash val="solid"/>
          </a:ln>
        </p:spPr>
      </p:sp>
      <p:sp>
        <p:nvSpPr>
          <p:cNvPr id="32" name="Text 29"/>
          <p:cNvSpPr/>
          <p:nvPr/>
        </p:nvSpPr>
        <p:spPr>
          <a:xfrm>
            <a:off x="8046720" y="3090672"/>
            <a:ext cx="292608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Automatisation IA</a:t>
            </a:r>
            <a:endParaRPr lang="en-US" sz="1600" dirty="0"/>
          </a:p>
        </p:txBody>
      </p:sp>
      <p:sp>
        <p:nvSpPr>
          <p:cNvPr id="33" name="Text 30"/>
          <p:cNvSpPr/>
          <p:nvPr/>
        </p:nvSpPr>
        <p:spPr>
          <a:xfrm>
            <a:off x="8046720" y="3511296"/>
            <a:ext cx="2926080" cy="1216152"/>
          </a:xfrm>
          <a:prstGeom prst="rect">
            <a:avLst/>
          </a:prstGeom>
          <a:noFill/>
          <a:ln/>
        </p:spPr>
        <p:txBody>
          <a:bodyPr wrap="square" lIns="0" tIns="0" rIns="0" bIns="0" rtlCol="0" anchor="t">
            <a:normAutofit/>
          </a:bodyPr>
          <a:lstStyle/>
          <a:p>
            <a:pPr indent="0" marL="0">
              <a:buNone/>
            </a:pPr>
            <a:r>
              <a:rPr lang="en-US" sz="1400" dirty="0">
                <a:solidFill>
                  <a:srgbClr val="102A43"/>
                </a:solidFill>
              </a:rPr>
              <a:t>n8n + Gemini analysent la soumission et renvoient un résultat JSON.</a:t>
            </a:r>
            <a:endParaRPr lang="en-US" sz="1400" dirty="0"/>
          </a:p>
        </p:txBody>
      </p:sp>
      <p:sp>
        <p:nvSpPr>
          <p:cNvPr id="34" name="Text 31"/>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0:55</a:t>
            </a:r>
            <a:endParaRPr lang="en-US" sz="780" dirty="0"/>
          </a:p>
        </p:txBody>
      </p:sp>
      <p:sp>
        <p:nvSpPr>
          <p:cNvPr id="35" name="Text 32"/>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03 | Stack technique</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Technologies utilisées</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685800" y="1325880"/>
            <a:ext cx="3429000" cy="1920240"/>
          </a:xfrm>
          <a:prstGeom prst="roundRect">
            <a:avLst>
              <a:gd name="adj" fmla="val 3810"/>
            </a:avLst>
          </a:prstGeom>
          <a:solidFill>
            <a:srgbClr val="FFFFFF"/>
          </a:solidFill>
          <a:ln w="12700">
            <a:solidFill>
              <a:srgbClr val="D8E4EE"/>
            </a:solidFill>
            <a:prstDash val="solid"/>
          </a:ln>
        </p:spPr>
      </p:sp>
      <p:sp>
        <p:nvSpPr>
          <p:cNvPr id="9" name="Shape 6"/>
          <p:cNvSpPr/>
          <p:nvPr/>
        </p:nvSpPr>
        <p:spPr>
          <a:xfrm>
            <a:off x="685800" y="1325880"/>
            <a:ext cx="73152" cy="1920240"/>
          </a:xfrm>
          <a:prstGeom prst="rect">
            <a:avLst/>
          </a:prstGeom>
          <a:solidFill>
            <a:srgbClr val="256FA8"/>
          </a:solidFill>
          <a:ln w="12700">
            <a:solidFill>
              <a:srgbClr val="256FA8"/>
            </a:solidFill>
            <a:prstDash val="solid"/>
          </a:ln>
        </p:spPr>
      </p:sp>
      <p:sp>
        <p:nvSpPr>
          <p:cNvPr id="10" name="Text 7"/>
          <p:cNvSpPr/>
          <p:nvPr/>
        </p:nvSpPr>
        <p:spPr>
          <a:xfrm>
            <a:off x="914400" y="149047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Frontend</a:t>
            </a:r>
            <a:endParaRPr lang="en-US" sz="1600" dirty="0"/>
          </a:p>
        </p:txBody>
      </p:sp>
      <p:sp>
        <p:nvSpPr>
          <p:cNvPr id="11" name="Text 8"/>
          <p:cNvSpPr/>
          <p:nvPr/>
        </p:nvSpPr>
        <p:spPr>
          <a:xfrm>
            <a:off x="914400" y="191109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React.js</a:t>
            </a:r>
            <a:endParaRPr lang="en-US" sz="1400" dirty="0"/>
          </a:p>
          <a:p>
            <a:pPr indent="0" marL="0">
              <a:buNone/>
            </a:pPr>
            <a:r>
              <a:rPr lang="en-US" sz="1400" dirty="0">
                <a:solidFill>
                  <a:srgbClr val="102A43"/>
                </a:solidFill>
              </a:rPr>
              <a:t>Vite</a:t>
            </a:r>
            <a:endParaRPr lang="en-US" sz="1400" dirty="0"/>
          </a:p>
          <a:p>
            <a:pPr indent="0" marL="0">
              <a:buNone/>
            </a:pPr>
            <a:r>
              <a:rPr lang="en-US" sz="1400" dirty="0">
                <a:solidFill>
                  <a:srgbClr val="102A43"/>
                </a:solidFill>
              </a:rPr>
              <a:t>Bootstrap</a:t>
            </a:r>
            <a:endParaRPr lang="en-US" sz="1400" dirty="0"/>
          </a:p>
          <a:p>
            <a:pPr indent="0" marL="0">
              <a:buNone/>
            </a:pPr>
            <a:r>
              <a:rPr lang="en-US" sz="1400" dirty="0">
                <a:solidFill>
                  <a:srgbClr val="102A43"/>
                </a:solidFill>
              </a:rPr>
              <a:t>CSS responsive</a:t>
            </a:r>
            <a:endParaRPr lang="en-US" sz="1400" dirty="0"/>
          </a:p>
        </p:txBody>
      </p:sp>
      <p:sp>
        <p:nvSpPr>
          <p:cNvPr id="12" name="Shape 9"/>
          <p:cNvSpPr/>
          <p:nvPr/>
        </p:nvSpPr>
        <p:spPr>
          <a:xfrm>
            <a:off x="4389120" y="1325880"/>
            <a:ext cx="3429000" cy="1920240"/>
          </a:xfrm>
          <a:prstGeom prst="roundRect">
            <a:avLst>
              <a:gd name="adj" fmla="val 3810"/>
            </a:avLst>
          </a:prstGeom>
          <a:solidFill>
            <a:srgbClr val="FFFFFF"/>
          </a:solidFill>
          <a:ln w="12700">
            <a:solidFill>
              <a:srgbClr val="D8E4EE"/>
            </a:solidFill>
            <a:prstDash val="solid"/>
          </a:ln>
        </p:spPr>
      </p:sp>
      <p:sp>
        <p:nvSpPr>
          <p:cNvPr id="13" name="Shape 10"/>
          <p:cNvSpPr/>
          <p:nvPr/>
        </p:nvSpPr>
        <p:spPr>
          <a:xfrm>
            <a:off x="4389120" y="1325880"/>
            <a:ext cx="73152" cy="1920240"/>
          </a:xfrm>
          <a:prstGeom prst="rect">
            <a:avLst/>
          </a:prstGeom>
          <a:solidFill>
            <a:srgbClr val="133B5C"/>
          </a:solidFill>
          <a:ln w="12700">
            <a:solidFill>
              <a:srgbClr val="133B5C"/>
            </a:solidFill>
            <a:prstDash val="solid"/>
          </a:ln>
        </p:spPr>
      </p:sp>
      <p:sp>
        <p:nvSpPr>
          <p:cNvPr id="14" name="Text 11"/>
          <p:cNvSpPr/>
          <p:nvPr/>
        </p:nvSpPr>
        <p:spPr>
          <a:xfrm>
            <a:off x="4617720" y="149047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Backend</a:t>
            </a:r>
            <a:endParaRPr lang="en-US" sz="1600" dirty="0"/>
          </a:p>
        </p:txBody>
      </p:sp>
      <p:sp>
        <p:nvSpPr>
          <p:cNvPr id="15" name="Text 12"/>
          <p:cNvSpPr/>
          <p:nvPr/>
        </p:nvSpPr>
        <p:spPr>
          <a:xfrm>
            <a:off x="4617720" y="191109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Node.js</a:t>
            </a:r>
            <a:endParaRPr lang="en-US" sz="1400" dirty="0"/>
          </a:p>
          <a:p>
            <a:pPr indent="0" marL="0">
              <a:buNone/>
            </a:pPr>
            <a:r>
              <a:rPr lang="en-US" sz="1400" dirty="0">
                <a:solidFill>
                  <a:srgbClr val="102A43"/>
                </a:solidFill>
              </a:rPr>
              <a:t>Express.js</a:t>
            </a:r>
            <a:endParaRPr lang="en-US" sz="1400" dirty="0"/>
          </a:p>
          <a:p>
            <a:pPr indent="0" marL="0">
              <a:buNone/>
            </a:pPr>
            <a:r>
              <a:rPr lang="en-US" sz="1400" dirty="0">
                <a:solidFill>
                  <a:srgbClr val="102A43"/>
                </a:solidFill>
              </a:rPr>
              <a:t>API REST</a:t>
            </a:r>
            <a:endParaRPr lang="en-US" sz="1400" dirty="0"/>
          </a:p>
          <a:p>
            <a:pPr indent="0" marL="0">
              <a:buNone/>
            </a:pPr>
            <a:r>
              <a:rPr lang="en-US" sz="1400" dirty="0">
                <a:solidFill>
                  <a:srgbClr val="102A43"/>
                </a:solidFill>
              </a:rPr>
              <a:t>JWT auth</a:t>
            </a:r>
            <a:endParaRPr lang="en-US" sz="1400" dirty="0"/>
          </a:p>
        </p:txBody>
      </p:sp>
      <p:sp>
        <p:nvSpPr>
          <p:cNvPr id="16" name="Shape 13"/>
          <p:cNvSpPr/>
          <p:nvPr/>
        </p:nvSpPr>
        <p:spPr>
          <a:xfrm>
            <a:off x="8092440" y="1325880"/>
            <a:ext cx="3429000" cy="1920240"/>
          </a:xfrm>
          <a:prstGeom prst="roundRect">
            <a:avLst>
              <a:gd name="adj" fmla="val 3810"/>
            </a:avLst>
          </a:prstGeom>
          <a:solidFill>
            <a:srgbClr val="FFFFFF"/>
          </a:solidFill>
          <a:ln w="12700">
            <a:solidFill>
              <a:srgbClr val="D8E4EE"/>
            </a:solidFill>
            <a:prstDash val="solid"/>
          </a:ln>
        </p:spPr>
      </p:sp>
      <p:sp>
        <p:nvSpPr>
          <p:cNvPr id="17" name="Shape 14"/>
          <p:cNvSpPr/>
          <p:nvPr/>
        </p:nvSpPr>
        <p:spPr>
          <a:xfrm>
            <a:off x="8092440" y="1325880"/>
            <a:ext cx="73152" cy="1920240"/>
          </a:xfrm>
          <a:prstGeom prst="rect">
            <a:avLst/>
          </a:prstGeom>
          <a:solidFill>
            <a:srgbClr val="51C4B8"/>
          </a:solidFill>
          <a:ln w="12700">
            <a:solidFill>
              <a:srgbClr val="51C4B8"/>
            </a:solidFill>
            <a:prstDash val="solid"/>
          </a:ln>
        </p:spPr>
      </p:sp>
      <p:sp>
        <p:nvSpPr>
          <p:cNvPr id="18" name="Text 15"/>
          <p:cNvSpPr/>
          <p:nvPr/>
        </p:nvSpPr>
        <p:spPr>
          <a:xfrm>
            <a:off x="8321040" y="149047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Base de données</a:t>
            </a:r>
            <a:endParaRPr lang="en-US" sz="1600" dirty="0"/>
          </a:p>
        </p:txBody>
      </p:sp>
      <p:sp>
        <p:nvSpPr>
          <p:cNvPr id="19" name="Text 16"/>
          <p:cNvSpPr/>
          <p:nvPr/>
        </p:nvSpPr>
        <p:spPr>
          <a:xfrm>
            <a:off x="8321040" y="191109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MySQL</a:t>
            </a:r>
            <a:endParaRPr lang="en-US" sz="1400" dirty="0"/>
          </a:p>
          <a:p>
            <a:pPr indent="0" marL="0">
              <a:buNone/>
            </a:pPr>
            <a:r>
              <a:rPr lang="en-US" sz="1400" dirty="0">
                <a:solidFill>
                  <a:srgbClr val="102A43"/>
                </a:solidFill>
              </a:rPr>
              <a:t>Tables utilisateurs</a:t>
            </a:r>
            <a:endParaRPr lang="en-US" sz="1400" dirty="0"/>
          </a:p>
          <a:p>
            <a:pPr indent="0" marL="0">
              <a:buNone/>
            </a:pPr>
            <a:r>
              <a:rPr lang="en-US" sz="1400" dirty="0">
                <a:solidFill>
                  <a:srgbClr val="102A43"/>
                </a:solidFill>
              </a:rPr>
              <a:t>Devoirs</a:t>
            </a:r>
            <a:endParaRPr lang="en-US" sz="1400" dirty="0"/>
          </a:p>
          <a:p>
            <a:pPr indent="0" marL="0">
              <a:buNone/>
            </a:pPr>
            <a:r>
              <a:rPr lang="en-US" sz="1400" dirty="0">
                <a:solidFill>
                  <a:srgbClr val="102A43"/>
                </a:solidFill>
              </a:rPr>
              <a:t>Soumissions</a:t>
            </a:r>
            <a:endParaRPr lang="en-US" sz="1400" dirty="0"/>
          </a:p>
        </p:txBody>
      </p:sp>
      <p:sp>
        <p:nvSpPr>
          <p:cNvPr id="20" name="Shape 17"/>
          <p:cNvSpPr/>
          <p:nvPr/>
        </p:nvSpPr>
        <p:spPr>
          <a:xfrm>
            <a:off x="685800" y="3703320"/>
            <a:ext cx="3429000" cy="1920240"/>
          </a:xfrm>
          <a:prstGeom prst="roundRect">
            <a:avLst>
              <a:gd name="adj" fmla="val 3810"/>
            </a:avLst>
          </a:prstGeom>
          <a:solidFill>
            <a:srgbClr val="FFFFFF"/>
          </a:solidFill>
          <a:ln w="12700">
            <a:solidFill>
              <a:srgbClr val="D8E4EE"/>
            </a:solidFill>
            <a:prstDash val="solid"/>
          </a:ln>
        </p:spPr>
      </p:sp>
      <p:sp>
        <p:nvSpPr>
          <p:cNvPr id="21" name="Shape 18"/>
          <p:cNvSpPr/>
          <p:nvPr/>
        </p:nvSpPr>
        <p:spPr>
          <a:xfrm>
            <a:off x="685800" y="3703320"/>
            <a:ext cx="73152" cy="1920240"/>
          </a:xfrm>
          <a:prstGeom prst="rect">
            <a:avLst/>
          </a:prstGeom>
          <a:solidFill>
            <a:srgbClr val="F0B44C"/>
          </a:solidFill>
          <a:ln w="12700">
            <a:solidFill>
              <a:srgbClr val="F0B44C"/>
            </a:solidFill>
            <a:prstDash val="solid"/>
          </a:ln>
        </p:spPr>
      </p:sp>
      <p:sp>
        <p:nvSpPr>
          <p:cNvPr id="22" name="Text 19"/>
          <p:cNvSpPr/>
          <p:nvPr/>
        </p:nvSpPr>
        <p:spPr>
          <a:xfrm>
            <a:off x="914400" y="3867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IA &amp; automatisation</a:t>
            </a:r>
            <a:endParaRPr lang="en-US" sz="1600" dirty="0"/>
          </a:p>
        </p:txBody>
      </p:sp>
      <p:sp>
        <p:nvSpPr>
          <p:cNvPr id="23" name="Text 20"/>
          <p:cNvSpPr/>
          <p:nvPr/>
        </p:nvSpPr>
        <p:spPr>
          <a:xfrm>
            <a:off x="914400" y="428853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n8n workflows</a:t>
            </a:r>
            <a:endParaRPr lang="en-US" sz="1400" dirty="0"/>
          </a:p>
          <a:p>
            <a:pPr indent="0" marL="0">
              <a:buNone/>
            </a:pPr>
            <a:r>
              <a:rPr lang="en-US" sz="1400" dirty="0">
                <a:solidFill>
                  <a:srgbClr val="102A43"/>
                </a:solidFill>
              </a:rPr>
              <a:t>Gemini API</a:t>
            </a:r>
            <a:endParaRPr lang="en-US" sz="1400" dirty="0"/>
          </a:p>
          <a:p>
            <a:pPr indent="0" marL="0">
              <a:buNone/>
            </a:pPr>
            <a:r>
              <a:rPr lang="en-US" sz="1400" dirty="0">
                <a:solidFill>
                  <a:srgbClr val="102A43"/>
                </a:solidFill>
              </a:rPr>
              <a:t>Webhooks</a:t>
            </a:r>
            <a:endParaRPr lang="en-US" sz="1400" dirty="0"/>
          </a:p>
          <a:p>
            <a:pPr indent="0" marL="0">
              <a:buNone/>
            </a:pPr>
            <a:r>
              <a:rPr lang="en-US" sz="1400" dirty="0">
                <a:solidFill>
                  <a:srgbClr val="102A43"/>
                </a:solidFill>
              </a:rPr>
              <a:t>Feedback en français</a:t>
            </a:r>
            <a:endParaRPr lang="en-US" sz="1400" dirty="0"/>
          </a:p>
        </p:txBody>
      </p:sp>
      <p:sp>
        <p:nvSpPr>
          <p:cNvPr id="24" name="Shape 21"/>
          <p:cNvSpPr/>
          <p:nvPr/>
        </p:nvSpPr>
        <p:spPr>
          <a:xfrm>
            <a:off x="4389120" y="3703320"/>
            <a:ext cx="3429000" cy="1920240"/>
          </a:xfrm>
          <a:prstGeom prst="roundRect">
            <a:avLst>
              <a:gd name="adj" fmla="val 3810"/>
            </a:avLst>
          </a:prstGeom>
          <a:solidFill>
            <a:srgbClr val="FFFFFF"/>
          </a:solidFill>
          <a:ln w="12700">
            <a:solidFill>
              <a:srgbClr val="D8E4EE"/>
            </a:solidFill>
            <a:prstDash val="solid"/>
          </a:ln>
        </p:spPr>
      </p:sp>
      <p:sp>
        <p:nvSpPr>
          <p:cNvPr id="25" name="Shape 22"/>
          <p:cNvSpPr/>
          <p:nvPr/>
        </p:nvSpPr>
        <p:spPr>
          <a:xfrm>
            <a:off x="4389120" y="3703320"/>
            <a:ext cx="73152" cy="1920240"/>
          </a:xfrm>
          <a:prstGeom prst="rect">
            <a:avLst/>
          </a:prstGeom>
          <a:solidFill>
            <a:srgbClr val="2E8B57"/>
          </a:solidFill>
          <a:ln w="12700">
            <a:solidFill>
              <a:srgbClr val="2E8B57"/>
            </a:solidFill>
            <a:prstDash val="solid"/>
          </a:ln>
        </p:spPr>
      </p:sp>
      <p:sp>
        <p:nvSpPr>
          <p:cNvPr id="26" name="Text 23"/>
          <p:cNvSpPr/>
          <p:nvPr/>
        </p:nvSpPr>
        <p:spPr>
          <a:xfrm>
            <a:off x="4617720" y="3867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Tests</a:t>
            </a:r>
            <a:endParaRPr lang="en-US" sz="1600" dirty="0"/>
          </a:p>
        </p:txBody>
      </p:sp>
      <p:sp>
        <p:nvSpPr>
          <p:cNvPr id="27" name="Text 24"/>
          <p:cNvSpPr/>
          <p:nvPr/>
        </p:nvSpPr>
        <p:spPr>
          <a:xfrm>
            <a:off x="4617720" y="428853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Vitest</a:t>
            </a:r>
            <a:endParaRPr lang="en-US" sz="1400" dirty="0"/>
          </a:p>
          <a:p>
            <a:pPr indent="0" marL="0">
              <a:buNone/>
            </a:pPr>
            <a:r>
              <a:rPr lang="en-US" sz="1400" dirty="0">
                <a:solidFill>
                  <a:srgbClr val="102A43"/>
                </a:solidFill>
              </a:rPr>
              <a:t>Supertest</a:t>
            </a:r>
            <a:endParaRPr lang="en-US" sz="1400" dirty="0"/>
          </a:p>
          <a:p>
            <a:pPr indent="0" marL="0">
              <a:buNone/>
            </a:pPr>
            <a:r>
              <a:rPr lang="en-US" sz="1400" dirty="0">
                <a:solidFill>
                  <a:srgbClr val="102A43"/>
                </a:solidFill>
              </a:rPr>
              <a:t>Playwright</a:t>
            </a:r>
            <a:endParaRPr lang="en-US" sz="1400" dirty="0"/>
          </a:p>
          <a:p>
            <a:pPr indent="0" marL="0">
              <a:buNone/>
            </a:pPr>
            <a:r>
              <a:rPr lang="en-US" sz="1400" dirty="0">
                <a:solidFill>
                  <a:srgbClr val="102A43"/>
                </a:solidFill>
              </a:rPr>
              <a:t>Smoke tests</a:t>
            </a:r>
            <a:endParaRPr lang="en-US" sz="1400" dirty="0"/>
          </a:p>
        </p:txBody>
      </p:sp>
      <p:sp>
        <p:nvSpPr>
          <p:cNvPr id="28" name="Shape 25"/>
          <p:cNvSpPr/>
          <p:nvPr/>
        </p:nvSpPr>
        <p:spPr>
          <a:xfrm>
            <a:off x="8092440" y="3703320"/>
            <a:ext cx="3429000" cy="1920240"/>
          </a:xfrm>
          <a:prstGeom prst="roundRect">
            <a:avLst>
              <a:gd name="adj" fmla="val 3810"/>
            </a:avLst>
          </a:prstGeom>
          <a:solidFill>
            <a:srgbClr val="FFFFFF"/>
          </a:solidFill>
          <a:ln w="12700">
            <a:solidFill>
              <a:srgbClr val="D8E4EE"/>
            </a:solidFill>
            <a:prstDash val="solid"/>
          </a:ln>
        </p:spPr>
      </p:sp>
      <p:sp>
        <p:nvSpPr>
          <p:cNvPr id="29" name="Shape 26"/>
          <p:cNvSpPr/>
          <p:nvPr/>
        </p:nvSpPr>
        <p:spPr>
          <a:xfrm>
            <a:off x="8092440" y="3703320"/>
            <a:ext cx="73152" cy="1920240"/>
          </a:xfrm>
          <a:prstGeom prst="rect">
            <a:avLst/>
          </a:prstGeom>
          <a:solidFill>
            <a:srgbClr val="D9524A"/>
          </a:solidFill>
          <a:ln w="12700">
            <a:solidFill>
              <a:srgbClr val="D9524A"/>
            </a:solidFill>
            <a:prstDash val="solid"/>
          </a:ln>
        </p:spPr>
      </p:sp>
      <p:sp>
        <p:nvSpPr>
          <p:cNvPr id="30" name="Text 27"/>
          <p:cNvSpPr/>
          <p:nvPr/>
        </p:nvSpPr>
        <p:spPr>
          <a:xfrm>
            <a:off x="8321040" y="3867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Sécurité</a:t>
            </a:r>
            <a:endParaRPr lang="en-US" sz="1600" dirty="0"/>
          </a:p>
        </p:txBody>
      </p:sp>
      <p:sp>
        <p:nvSpPr>
          <p:cNvPr id="31" name="Text 28"/>
          <p:cNvSpPr/>
          <p:nvPr/>
        </p:nvSpPr>
        <p:spPr>
          <a:xfrm>
            <a:off x="8321040" y="4288536"/>
            <a:ext cx="301752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bcryptjs</a:t>
            </a:r>
            <a:endParaRPr lang="en-US" sz="1400" dirty="0"/>
          </a:p>
          <a:p>
            <a:pPr indent="0" marL="0">
              <a:buNone/>
            </a:pPr>
            <a:r>
              <a:rPr lang="en-US" sz="1400" dirty="0">
                <a:solidFill>
                  <a:srgbClr val="102A43"/>
                </a:solidFill>
              </a:rPr>
              <a:t>Helmet</a:t>
            </a:r>
            <a:endParaRPr lang="en-US" sz="1400" dirty="0"/>
          </a:p>
          <a:p>
            <a:pPr indent="0" marL="0">
              <a:buNone/>
            </a:pPr>
            <a:r>
              <a:rPr lang="en-US" sz="1400" dirty="0">
                <a:solidFill>
                  <a:srgbClr val="102A43"/>
                </a:solidFill>
              </a:rPr>
              <a:t>CORS</a:t>
            </a:r>
            <a:endParaRPr lang="en-US" sz="1400" dirty="0"/>
          </a:p>
          <a:p>
            <a:pPr indent="0" marL="0">
              <a:buNone/>
            </a:pPr>
            <a:r>
              <a:rPr lang="en-US" sz="1400" dirty="0">
                <a:solidFill>
                  <a:srgbClr val="102A43"/>
                </a:solidFill>
              </a:rPr>
              <a:t>Rate limiting</a:t>
            </a:r>
            <a:endParaRPr lang="en-US" sz="1400" dirty="0"/>
          </a:p>
          <a:p>
            <a:pPr indent="0" marL="0">
              <a:buNone/>
            </a:pPr>
            <a:r>
              <a:rPr lang="en-US" sz="1400" dirty="0">
                <a:solidFill>
                  <a:srgbClr val="102A43"/>
                </a:solidFill>
              </a:rPr>
              <a:t>Zod validation</a:t>
            </a:r>
            <a:endParaRPr lang="en-US" sz="1400" dirty="0"/>
          </a:p>
        </p:txBody>
      </p:sp>
      <p:sp>
        <p:nvSpPr>
          <p:cNvPr id="32" name="Text 29"/>
          <p:cNvSpPr/>
          <p:nvPr/>
        </p:nvSpPr>
        <p:spPr>
          <a:xfrm>
            <a:off x="777240" y="5989320"/>
            <a:ext cx="10241280" cy="274320"/>
          </a:xfrm>
          <a:prstGeom prst="rect">
            <a:avLst/>
          </a:prstGeom>
          <a:noFill/>
          <a:ln/>
        </p:spPr>
        <p:txBody>
          <a:bodyPr wrap="square" lIns="0" tIns="0" rIns="0" bIns="0" rtlCol="0" anchor="ctr">
            <a:normAutofit/>
          </a:bodyPr>
          <a:lstStyle/>
          <a:p>
            <a:pPr algn="ctr" indent="0" marL="0">
              <a:buNone/>
            </a:pPr>
            <a:r>
              <a:rPr lang="en-US" sz="1600" b="1" dirty="0">
                <a:solidFill>
                  <a:srgbClr val="102A43"/>
                </a:solidFill>
              </a:rPr>
              <a:t>La stack est simple à expliquer et complète pour une démo PFE.</a:t>
            </a:r>
            <a:endParaRPr lang="en-US" sz="1600" dirty="0"/>
          </a:p>
        </p:txBody>
      </p:sp>
      <p:sp>
        <p:nvSpPr>
          <p:cNvPr id="33" name="Text 30"/>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0:50</a:t>
            </a:r>
            <a:endParaRPr lang="en-US" sz="780" dirty="0"/>
          </a:p>
        </p:txBody>
      </p:sp>
      <p:sp>
        <p:nvSpPr>
          <p:cNvPr id="34" name="Text 31"/>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04 | Full-stack</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Architecture technique</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Text 5"/>
          <p:cNvSpPr/>
          <p:nvPr/>
        </p:nvSpPr>
        <p:spPr>
          <a:xfrm>
            <a:off x="594360" y="1078992"/>
            <a:ext cx="10241280" cy="310896"/>
          </a:xfrm>
          <a:prstGeom prst="rect">
            <a:avLst/>
          </a:prstGeom>
          <a:noFill/>
          <a:ln/>
        </p:spPr>
        <p:txBody>
          <a:bodyPr wrap="square" lIns="0" tIns="0" rIns="0" bIns="0" rtlCol="0" anchor="ctr">
            <a:normAutofit/>
          </a:bodyPr>
          <a:lstStyle/>
          <a:p>
            <a:pPr indent="0" marL="0">
              <a:buNone/>
            </a:pPr>
            <a:r>
              <a:rPr lang="en-US" sz="1500" b="1" dirty="0">
                <a:solidFill>
                  <a:srgbClr val="256FA8"/>
                </a:solidFill>
              </a:rPr>
              <a:t>Une séparation claire entre interface, API, données et automatisation IA.</a:t>
            </a:r>
            <a:endParaRPr lang="en-US" sz="1500" dirty="0"/>
          </a:p>
        </p:txBody>
      </p:sp>
      <p:sp>
        <p:nvSpPr>
          <p:cNvPr id="9" name="Shape 6"/>
          <p:cNvSpPr/>
          <p:nvPr/>
        </p:nvSpPr>
        <p:spPr>
          <a:xfrm>
            <a:off x="685800" y="1874520"/>
            <a:ext cx="2057400" cy="822960"/>
          </a:xfrm>
          <a:prstGeom prst="roundRect">
            <a:avLst>
              <a:gd name="adj" fmla="val 8889"/>
            </a:avLst>
          </a:prstGeom>
          <a:solidFill>
            <a:srgbClr val="256FA8"/>
          </a:solidFill>
          <a:ln w="12700">
            <a:solidFill>
              <a:srgbClr val="256FA8"/>
            </a:solidFill>
            <a:prstDash val="solid"/>
          </a:ln>
        </p:spPr>
      </p:sp>
      <p:sp>
        <p:nvSpPr>
          <p:cNvPr id="10" name="Text 7"/>
          <p:cNvSpPr/>
          <p:nvPr/>
        </p:nvSpPr>
        <p:spPr>
          <a:xfrm>
            <a:off x="758952" y="2020824"/>
            <a:ext cx="1911096" cy="65836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Frontend</a:t>
            </a:r>
            <a:endParaRPr lang="en-US" sz="1150" dirty="0"/>
          </a:p>
          <a:p>
            <a:pPr algn="ctr" indent="0" marL="0">
              <a:buNone/>
            </a:pPr>
            <a:r>
              <a:rPr lang="en-US" sz="1150" b="1" dirty="0">
                <a:solidFill>
                  <a:srgbClr val="FFFFFF"/>
                </a:solidFill>
              </a:rPr>
              <a:t>React + Vite</a:t>
            </a:r>
            <a:endParaRPr lang="en-US" sz="1150" dirty="0"/>
          </a:p>
        </p:txBody>
      </p:sp>
      <p:sp>
        <p:nvSpPr>
          <p:cNvPr id="11" name="Shape 8"/>
          <p:cNvSpPr/>
          <p:nvPr/>
        </p:nvSpPr>
        <p:spPr>
          <a:xfrm>
            <a:off x="2880360" y="2286000"/>
            <a:ext cx="612648" cy="0"/>
          </a:xfrm>
          <a:prstGeom prst="line">
            <a:avLst/>
          </a:prstGeom>
          <a:noFill/>
          <a:ln w="22860">
            <a:solidFill>
              <a:srgbClr val="256FA8"/>
            </a:solidFill>
            <a:prstDash val="solid"/>
            <a:headEnd type="none"/>
            <a:tailEnd type="triangle"/>
          </a:ln>
        </p:spPr>
      </p:sp>
      <p:sp>
        <p:nvSpPr>
          <p:cNvPr id="12" name="Shape 9"/>
          <p:cNvSpPr/>
          <p:nvPr/>
        </p:nvSpPr>
        <p:spPr>
          <a:xfrm>
            <a:off x="3611880" y="1874520"/>
            <a:ext cx="2057400" cy="822960"/>
          </a:xfrm>
          <a:prstGeom prst="roundRect">
            <a:avLst>
              <a:gd name="adj" fmla="val 8889"/>
            </a:avLst>
          </a:prstGeom>
          <a:solidFill>
            <a:srgbClr val="133B5C"/>
          </a:solidFill>
          <a:ln w="12700">
            <a:solidFill>
              <a:srgbClr val="133B5C"/>
            </a:solidFill>
            <a:prstDash val="solid"/>
          </a:ln>
        </p:spPr>
      </p:sp>
      <p:sp>
        <p:nvSpPr>
          <p:cNvPr id="13" name="Text 10"/>
          <p:cNvSpPr/>
          <p:nvPr/>
        </p:nvSpPr>
        <p:spPr>
          <a:xfrm>
            <a:off x="3685032" y="2020824"/>
            <a:ext cx="1911096" cy="65836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Backend API</a:t>
            </a:r>
            <a:endParaRPr lang="en-US" sz="1150" dirty="0"/>
          </a:p>
          <a:p>
            <a:pPr algn="ctr" indent="0" marL="0">
              <a:buNone/>
            </a:pPr>
            <a:r>
              <a:rPr lang="en-US" sz="1150" b="1" dirty="0">
                <a:solidFill>
                  <a:srgbClr val="FFFFFF"/>
                </a:solidFill>
              </a:rPr>
              <a:t>Node + Express</a:t>
            </a:r>
            <a:endParaRPr lang="en-US" sz="1150" dirty="0"/>
          </a:p>
        </p:txBody>
      </p:sp>
      <p:sp>
        <p:nvSpPr>
          <p:cNvPr id="14" name="Shape 11"/>
          <p:cNvSpPr/>
          <p:nvPr/>
        </p:nvSpPr>
        <p:spPr>
          <a:xfrm>
            <a:off x="5806440" y="2286000"/>
            <a:ext cx="612648" cy="0"/>
          </a:xfrm>
          <a:prstGeom prst="line">
            <a:avLst/>
          </a:prstGeom>
          <a:noFill/>
          <a:ln w="22860">
            <a:solidFill>
              <a:srgbClr val="256FA8"/>
            </a:solidFill>
            <a:prstDash val="solid"/>
            <a:headEnd type="none"/>
            <a:tailEnd type="triangle"/>
          </a:ln>
        </p:spPr>
      </p:sp>
      <p:sp>
        <p:nvSpPr>
          <p:cNvPr id="15" name="Shape 12"/>
          <p:cNvSpPr/>
          <p:nvPr/>
        </p:nvSpPr>
        <p:spPr>
          <a:xfrm>
            <a:off x="6537960" y="1874520"/>
            <a:ext cx="2057400" cy="822960"/>
          </a:xfrm>
          <a:prstGeom prst="roundRect">
            <a:avLst>
              <a:gd name="adj" fmla="val 8889"/>
            </a:avLst>
          </a:prstGeom>
          <a:solidFill>
            <a:srgbClr val="51C4B8"/>
          </a:solidFill>
          <a:ln w="12700">
            <a:solidFill>
              <a:srgbClr val="51C4B8"/>
            </a:solidFill>
            <a:prstDash val="solid"/>
          </a:ln>
        </p:spPr>
      </p:sp>
      <p:sp>
        <p:nvSpPr>
          <p:cNvPr id="16" name="Text 13"/>
          <p:cNvSpPr/>
          <p:nvPr/>
        </p:nvSpPr>
        <p:spPr>
          <a:xfrm>
            <a:off x="6611112" y="2020824"/>
            <a:ext cx="1911096" cy="65836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Données</a:t>
            </a:r>
            <a:endParaRPr lang="en-US" sz="1150" dirty="0"/>
          </a:p>
          <a:p>
            <a:pPr algn="ctr" indent="0" marL="0">
              <a:buNone/>
            </a:pPr>
            <a:r>
              <a:rPr lang="en-US" sz="1150" b="1" dirty="0">
                <a:solidFill>
                  <a:srgbClr val="FFFFFF"/>
                </a:solidFill>
              </a:rPr>
              <a:t>MySQL + Uploads</a:t>
            </a:r>
            <a:endParaRPr lang="en-US" sz="1150" dirty="0"/>
          </a:p>
        </p:txBody>
      </p:sp>
      <p:sp>
        <p:nvSpPr>
          <p:cNvPr id="17" name="Shape 14"/>
          <p:cNvSpPr/>
          <p:nvPr/>
        </p:nvSpPr>
        <p:spPr>
          <a:xfrm>
            <a:off x="8732520" y="2286000"/>
            <a:ext cx="612648" cy="0"/>
          </a:xfrm>
          <a:prstGeom prst="line">
            <a:avLst/>
          </a:prstGeom>
          <a:noFill/>
          <a:ln w="22860">
            <a:solidFill>
              <a:srgbClr val="256FA8"/>
            </a:solidFill>
            <a:prstDash val="solid"/>
            <a:headEnd type="none"/>
            <a:tailEnd type="triangle"/>
          </a:ln>
        </p:spPr>
      </p:sp>
      <p:sp>
        <p:nvSpPr>
          <p:cNvPr id="18" name="Shape 15"/>
          <p:cNvSpPr/>
          <p:nvPr/>
        </p:nvSpPr>
        <p:spPr>
          <a:xfrm>
            <a:off x="9464040" y="1874520"/>
            <a:ext cx="2057400" cy="822960"/>
          </a:xfrm>
          <a:prstGeom prst="roundRect">
            <a:avLst>
              <a:gd name="adj" fmla="val 8889"/>
            </a:avLst>
          </a:prstGeom>
          <a:solidFill>
            <a:srgbClr val="D9524A"/>
          </a:solidFill>
          <a:ln w="12700">
            <a:solidFill>
              <a:srgbClr val="D9524A"/>
            </a:solidFill>
            <a:prstDash val="solid"/>
          </a:ln>
        </p:spPr>
      </p:sp>
      <p:sp>
        <p:nvSpPr>
          <p:cNvPr id="19" name="Text 16"/>
          <p:cNvSpPr/>
          <p:nvPr/>
        </p:nvSpPr>
        <p:spPr>
          <a:xfrm>
            <a:off x="9537192" y="2020824"/>
            <a:ext cx="1911096" cy="65836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Automatisation</a:t>
            </a:r>
            <a:endParaRPr lang="en-US" sz="1150" dirty="0"/>
          </a:p>
          <a:p>
            <a:pPr algn="ctr" indent="0" marL="0">
              <a:buNone/>
            </a:pPr>
            <a:r>
              <a:rPr lang="en-US" sz="1150" b="1" dirty="0">
                <a:solidFill>
                  <a:srgbClr val="FFFFFF"/>
                </a:solidFill>
              </a:rPr>
              <a:t>n8n + Gemini</a:t>
            </a:r>
            <a:endParaRPr lang="en-US" sz="1150" dirty="0"/>
          </a:p>
        </p:txBody>
      </p:sp>
      <p:sp>
        <p:nvSpPr>
          <p:cNvPr id="20" name="Shape 17"/>
          <p:cNvSpPr/>
          <p:nvPr/>
        </p:nvSpPr>
        <p:spPr>
          <a:xfrm>
            <a:off x="4526280" y="2816352"/>
            <a:ext cx="0" cy="777240"/>
          </a:xfrm>
          <a:prstGeom prst="line">
            <a:avLst/>
          </a:prstGeom>
          <a:noFill/>
          <a:ln w="25400">
            <a:solidFill>
              <a:srgbClr val="F0B44C"/>
            </a:solidFill>
            <a:prstDash val="solid"/>
            <a:headEnd type="none"/>
            <a:tailEnd type="triangle"/>
          </a:ln>
        </p:spPr>
      </p:sp>
      <p:sp>
        <p:nvSpPr>
          <p:cNvPr id="21" name="Shape 18"/>
          <p:cNvSpPr/>
          <p:nvPr/>
        </p:nvSpPr>
        <p:spPr>
          <a:xfrm>
            <a:off x="3474720" y="3657600"/>
            <a:ext cx="2331720" cy="685800"/>
          </a:xfrm>
          <a:prstGeom prst="roundRect">
            <a:avLst>
              <a:gd name="adj" fmla="val 10667"/>
            </a:avLst>
          </a:prstGeom>
          <a:solidFill>
            <a:srgbClr val="F0B44C"/>
          </a:solidFill>
          <a:ln w="12700">
            <a:solidFill>
              <a:srgbClr val="F0B44C"/>
            </a:solidFill>
            <a:prstDash val="solid"/>
          </a:ln>
        </p:spPr>
      </p:sp>
      <p:sp>
        <p:nvSpPr>
          <p:cNvPr id="22" name="Text 19"/>
          <p:cNvSpPr/>
          <p:nvPr/>
        </p:nvSpPr>
        <p:spPr>
          <a:xfrm>
            <a:off x="3547872" y="3803904"/>
            <a:ext cx="2185416" cy="5212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Fichiers PDF</a:t>
            </a:r>
            <a:endParaRPr lang="en-US" sz="1150" dirty="0"/>
          </a:p>
          <a:p>
            <a:pPr algn="ctr" indent="0" marL="0">
              <a:buNone/>
            </a:pPr>
            <a:r>
              <a:rPr lang="en-US" sz="1150" b="1" dirty="0">
                <a:solidFill>
                  <a:srgbClr val="FFFFFF"/>
                </a:solidFill>
              </a:rPr>
              <a:t>Devoirs et réponses</a:t>
            </a:r>
            <a:endParaRPr lang="en-US" sz="1150" dirty="0"/>
          </a:p>
        </p:txBody>
      </p:sp>
      <p:sp>
        <p:nvSpPr>
          <p:cNvPr id="23" name="Shape 20"/>
          <p:cNvSpPr/>
          <p:nvPr/>
        </p:nvSpPr>
        <p:spPr>
          <a:xfrm>
            <a:off x="10497312" y="2816352"/>
            <a:ext cx="0" cy="777240"/>
          </a:xfrm>
          <a:prstGeom prst="line">
            <a:avLst/>
          </a:prstGeom>
          <a:noFill/>
          <a:ln w="25400">
            <a:solidFill>
              <a:srgbClr val="2E8B57"/>
            </a:solidFill>
            <a:prstDash val="solid"/>
            <a:headEnd type="none"/>
            <a:tailEnd type="triangle"/>
          </a:ln>
        </p:spPr>
      </p:sp>
      <p:sp>
        <p:nvSpPr>
          <p:cNvPr id="24" name="Shape 21"/>
          <p:cNvSpPr/>
          <p:nvPr/>
        </p:nvSpPr>
        <p:spPr>
          <a:xfrm>
            <a:off x="9372600" y="3657600"/>
            <a:ext cx="2331720" cy="685800"/>
          </a:xfrm>
          <a:prstGeom prst="roundRect">
            <a:avLst>
              <a:gd name="adj" fmla="val 10667"/>
            </a:avLst>
          </a:prstGeom>
          <a:solidFill>
            <a:srgbClr val="2E8B57"/>
          </a:solidFill>
          <a:ln w="12700">
            <a:solidFill>
              <a:srgbClr val="2E8B57"/>
            </a:solidFill>
            <a:prstDash val="solid"/>
          </a:ln>
        </p:spPr>
      </p:sp>
      <p:sp>
        <p:nvSpPr>
          <p:cNvPr id="25" name="Text 22"/>
          <p:cNvSpPr/>
          <p:nvPr/>
        </p:nvSpPr>
        <p:spPr>
          <a:xfrm>
            <a:off x="9445752" y="3803904"/>
            <a:ext cx="2185416" cy="5212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Retour JSON</a:t>
            </a:r>
            <a:endParaRPr lang="en-US" sz="1150" dirty="0"/>
          </a:p>
          <a:p>
            <a:pPr algn="ctr" indent="0" marL="0">
              <a:buNone/>
            </a:pPr>
            <a:r>
              <a:rPr lang="en-US" sz="1150" b="1" dirty="0">
                <a:solidFill>
                  <a:srgbClr val="FFFFFF"/>
                </a:solidFill>
              </a:rPr>
              <a:t>score + feedback</a:t>
            </a:r>
            <a:endParaRPr lang="en-US" sz="1150" dirty="0"/>
          </a:p>
        </p:txBody>
      </p:sp>
      <p:sp>
        <p:nvSpPr>
          <p:cNvPr id="26" name="Shape 23"/>
          <p:cNvSpPr/>
          <p:nvPr/>
        </p:nvSpPr>
        <p:spPr>
          <a:xfrm>
            <a:off x="685800" y="4736592"/>
            <a:ext cx="5257800" cy="1234440"/>
          </a:xfrm>
          <a:prstGeom prst="roundRect">
            <a:avLst>
              <a:gd name="adj" fmla="val 5926"/>
            </a:avLst>
          </a:prstGeom>
          <a:solidFill>
            <a:srgbClr val="FFFFFF"/>
          </a:solidFill>
          <a:ln w="12700">
            <a:solidFill>
              <a:srgbClr val="D8E4EE"/>
            </a:solidFill>
            <a:prstDash val="solid"/>
          </a:ln>
        </p:spPr>
      </p:sp>
      <p:sp>
        <p:nvSpPr>
          <p:cNvPr id="27" name="Shape 24"/>
          <p:cNvSpPr/>
          <p:nvPr/>
        </p:nvSpPr>
        <p:spPr>
          <a:xfrm>
            <a:off x="685800" y="4736592"/>
            <a:ext cx="73152" cy="1234440"/>
          </a:xfrm>
          <a:prstGeom prst="rect">
            <a:avLst/>
          </a:prstGeom>
          <a:solidFill>
            <a:srgbClr val="256FA8"/>
          </a:solidFill>
          <a:ln w="12700">
            <a:solidFill>
              <a:srgbClr val="256FA8"/>
            </a:solidFill>
            <a:prstDash val="solid"/>
          </a:ln>
        </p:spPr>
      </p:sp>
      <p:sp>
        <p:nvSpPr>
          <p:cNvPr id="28" name="Text 25"/>
          <p:cNvSpPr/>
          <p:nvPr/>
        </p:nvSpPr>
        <p:spPr>
          <a:xfrm>
            <a:off x="914400" y="4901184"/>
            <a:ext cx="48463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Responsabilités</a:t>
            </a:r>
            <a:endParaRPr lang="en-US" sz="1600" dirty="0"/>
          </a:p>
        </p:txBody>
      </p:sp>
      <p:sp>
        <p:nvSpPr>
          <p:cNvPr id="29" name="Text 26"/>
          <p:cNvSpPr/>
          <p:nvPr/>
        </p:nvSpPr>
        <p:spPr>
          <a:xfrm>
            <a:off x="914400" y="5321808"/>
            <a:ext cx="4846320" cy="484632"/>
          </a:xfrm>
          <a:prstGeom prst="rect">
            <a:avLst/>
          </a:prstGeom>
          <a:noFill/>
          <a:ln/>
        </p:spPr>
        <p:txBody>
          <a:bodyPr wrap="square" lIns="0" tIns="0" rIns="0" bIns="0" rtlCol="0" anchor="t">
            <a:normAutofit/>
          </a:bodyPr>
          <a:lstStyle/>
          <a:p>
            <a:pPr indent="0" marL="0">
              <a:buNone/>
            </a:pPr>
            <a:r>
              <a:rPr lang="en-US" sz="1400" dirty="0">
                <a:solidFill>
                  <a:srgbClr val="102A43"/>
                </a:solidFill>
              </a:rPr>
              <a:t>React : interface utilisateur.</a:t>
            </a:r>
            <a:endParaRPr lang="en-US" sz="1400" dirty="0"/>
          </a:p>
          <a:p>
            <a:pPr indent="0" marL="0">
              <a:buNone/>
            </a:pPr>
            <a:r>
              <a:rPr lang="en-US" sz="1400" dirty="0">
                <a:solidFill>
                  <a:srgbClr val="102A43"/>
                </a:solidFill>
              </a:rPr>
              <a:t>Express : API sécurisée.</a:t>
            </a:r>
            <a:endParaRPr lang="en-US" sz="1400" dirty="0"/>
          </a:p>
          <a:p>
            <a:pPr indent="0" marL="0">
              <a:buNone/>
            </a:pPr>
            <a:r>
              <a:rPr lang="en-US" sz="1400" dirty="0">
                <a:solidFill>
                  <a:srgbClr val="102A43"/>
                </a:solidFill>
              </a:rPr>
              <a:t>MySQL : données.</a:t>
            </a:r>
            <a:endParaRPr lang="en-US" sz="1400" dirty="0"/>
          </a:p>
          <a:p>
            <a:pPr indent="0" marL="0">
              <a:buNone/>
            </a:pPr>
            <a:r>
              <a:rPr lang="en-US" sz="1400" dirty="0">
                <a:solidFill>
                  <a:srgbClr val="102A43"/>
                </a:solidFill>
              </a:rPr>
              <a:t>n8n/Gemini : analyse IA.</a:t>
            </a:r>
            <a:endParaRPr lang="en-US" sz="1400" dirty="0"/>
          </a:p>
        </p:txBody>
      </p:sp>
      <p:sp>
        <p:nvSpPr>
          <p:cNvPr id="30" name="Shape 27"/>
          <p:cNvSpPr/>
          <p:nvPr/>
        </p:nvSpPr>
        <p:spPr>
          <a:xfrm>
            <a:off x="6263640" y="4736592"/>
            <a:ext cx="5257800" cy="1234440"/>
          </a:xfrm>
          <a:prstGeom prst="roundRect">
            <a:avLst>
              <a:gd name="adj" fmla="val 5926"/>
            </a:avLst>
          </a:prstGeom>
          <a:solidFill>
            <a:srgbClr val="FFFFFF"/>
          </a:solidFill>
          <a:ln w="12700">
            <a:solidFill>
              <a:srgbClr val="D8E4EE"/>
            </a:solidFill>
            <a:prstDash val="solid"/>
          </a:ln>
        </p:spPr>
      </p:sp>
      <p:sp>
        <p:nvSpPr>
          <p:cNvPr id="31" name="Shape 28"/>
          <p:cNvSpPr/>
          <p:nvPr/>
        </p:nvSpPr>
        <p:spPr>
          <a:xfrm>
            <a:off x="6263640" y="4736592"/>
            <a:ext cx="73152" cy="1234440"/>
          </a:xfrm>
          <a:prstGeom prst="rect">
            <a:avLst/>
          </a:prstGeom>
          <a:solidFill>
            <a:srgbClr val="51C4B8"/>
          </a:solidFill>
          <a:ln w="12700">
            <a:solidFill>
              <a:srgbClr val="51C4B8"/>
            </a:solidFill>
            <a:prstDash val="solid"/>
          </a:ln>
        </p:spPr>
      </p:sp>
      <p:sp>
        <p:nvSpPr>
          <p:cNvPr id="32" name="Text 29"/>
          <p:cNvSpPr/>
          <p:nvPr/>
        </p:nvSpPr>
        <p:spPr>
          <a:xfrm>
            <a:off x="6492240" y="4901184"/>
            <a:ext cx="48463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Flux principal</a:t>
            </a:r>
            <a:endParaRPr lang="en-US" sz="1600" dirty="0"/>
          </a:p>
        </p:txBody>
      </p:sp>
      <p:sp>
        <p:nvSpPr>
          <p:cNvPr id="33" name="Text 30"/>
          <p:cNvSpPr/>
          <p:nvPr/>
        </p:nvSpPr>
        <p:spPr>
          <a:xfrm>
            <a:off x="6492240" y="5321808"/>
            <a:ext cx="4846320" cy="484632"/>
          </a:xfrm>
          <a:prstGeom prst="rect">
            <a:avLst/>
          </a:prstGeom>
          <a:noFill/>
          <a:ln/>
        </p:spPr>
        <p:txBody>
          <a:bodyPr wrap="square" lIns="0" tIns="0" rIns="0" bIns="0" rtlCol="0" anchor="t">
            <a:normAutofit/>
          </a:bodyPr>
          <a:lstStyle/>
          <a:p>
            <a:pPr indent="0" marL="0">
              <a:buNone/>
            </a:pPr>
            <a:r>
              <a:rPr lang="en-US" sz="1400" dirty="0">
                <a:solidFill>
                  <a:srgbClr val="102A43"/>
                </a:solidFill>
              </a:rPr>
              <a:t>Soumission -&gt; backend -&gt; n8n -&gt; Gemini -&gt; résultat -&gt; feedback dans l’application.</a:t>
            </a:r>
            <a:endParaRPr lang="en-US" sz="1400" dirty="0"/>
          </a:p>
        </p:txBody>
      </p:sp>
      <p:sp>
        <p:nvSpPr>
          <p:cNvPr id="34" name="Text 31"/>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1:05</a:t>
            </a:r>
            <a:endParaRPr lang="en-US" sz="780" dirty="0"/>
          </a:p>
        </p:txBody>
      </p:sp>
      <p:sp>
        <p:nvSpPr>
          <p:cNvPr id="35" name="Text 32"/>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05 | Accès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Les trois rôles utilisateur</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685800" y="1417320"/>
            <a:ext cx="3429000" cy="3246120"/>
          </a:xfrm>
          <a:prstGeom prst="roundRect">
            <a:avLst>
              <a:gd name="adj" fmla="val 2254"/>
            </a:avLst>
          </a:prstGeom>
          <a:solidFill>
            <a:srgbClr val="FFFFFF"/>
          </a:solidFill>
          <a:ln w="12700">
            <a:solidFill>
              <a:srgbClr val="D8E4EE"/>
            </a:solidFill>
            <a:prstDash val="solid"/>
          </a:ln>
        </p:spPr>
      </p:sp>
      <p:sp>
        <p:nvSpPr>
          <p:cNvPr id="9" name="Shape 6"/>
          <p:cNvSpPr/>
          <p:nvPr/>
        </p:nvSpPr>
        <p:spPr>
          <a:xfrm>
            <a:off x="685800" y="1417320"/>
            <a:ext cx="73152" cy="3246120"/>
          </a:xfrm>
          <a:prstGeom prst="rect">
            <a:avLst/>
          </a:prstGeom>
          <a:solidFill>
            <a:srgbClr val="133B5C"/>
          </a:solidFill>
          <a:ln w="12700">
            <a:solidFill>
              <a:srgbClr val="133B5C"/>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Administrateur</a:t>
            </a:r>
            <a:endParaRPr lang="en-US" sz="1600" dirty="0"/>
          </a:p>
        </p:txBody>
      </p:sp>
      <p:sp>
        <p:nvSpPr>
          <p:cNvPr id="11" name="Text 8"/>
          <p:cNvSpPr/>
          <p:nvPr/>
        </p:nvSpPr>
        <p:spPr>
          <a:xfrm>
            <a:off x="914400" y="2002536"/>
            <a:ext cx="3017520" cy="2496312"/>
          </a:xfrm>
          <a:prstGeom prst="rect">
            <a:avLst/>
          </a:prstGeom>
          <a:noFill/>
          <a:ln/>
        </p:spPr>
        <p:txBody>
          <a:bodyPr wrap="square" lIns="0" tIns="0" rIns="0" bIns="0" rtlCol="0" anchor="t">
            <a:normAutofit/>
          </a:bodyPr>
          <a:lstStyle/>
          <a:p>
            <a:pPr indent="0" marL="0">
              <a:buNone/>
            </a:pPr>
            <a:r>
              <a:rPr lang="en-US" sz="1400" dirty="0">
                <a:solidFill>
                  <a:srgbClr val="102A43"/>
                </a:solidFill>
              </a:rPr>
              <a:t>Gère les utilisateurs.</a:t>
            </a:r>
            <a:endParaRPr lang="en-US" sz="1400" dirty="0"/>
          </a:p>
          <a:p>
            <a:pPr indent="0" marL="0">
              <a:buNone/>
            </a:pPr>
            <a:r>
              <a:rPr lang="en-US" sz="1400" dirty="0">
                <a:solidFill>
                  <a:srgbClr val="102A43"/>
                </a:solidFill>
              </a:rPr>
              <a:t>Accède aux fonctions de supervision.</a:t>
            </a:r>
            <a:endParaRPr lang="en-US" sz="1400" dirty="0"/>
          </a:p>
        </p:txBody>
      </p:sp>
      <p:sp>
        <p:nvSpPr>
          <p:cNvPr id="12" name="Shape 9"/>
          <p:cNvSpPr/>
          <p:nvPr/>
        </p:nvSpPr>
        <p:spPr>
          <a:xfrm>
            <a:off x="4389120" y="1417320"/>
            <a:ext cx="3429000" cy="3246120"/>
          </a:xfrm>
          <a:prstGeom prst="roundRect">
            <a:avLst>
              <a:gd name="adj" fmla="val 2254"/>
            </a:avLst>
          </a:prstGeom>
          <a:solidFill>
            <a:srgbClr val="FFFFFF"/>
          </a:solidFill>
          <a:ln w="12700">
            <a:solidFill>
              <a:srgbClr val="D8E4EE"/>
            </a:solidFill>
            <a:prstDash val="solid"/>
          </a:ln>
        </p:spPr>
      </p:sp>
      <p:sp>
        <p:nvSpPr>
          <p:cNvPr id="13" name="Shape 10"/>
          <p:cNvSpPr/>
          <p:nvPr/>
        </p:nvSpPr>
        <p:spPr>
          <a:xfrm>
            <a:off x="4389120" y="1417320"/>
            <a:ext cx="73152" cy="3246120"/>
          </a:xfrm>
          <a:prstGeom prst="rect">
            <a:avLst/>
          </a:prstGeom>
          <a:solidFill>
            <a:srgbClr val="256FA8"/>
          </a:solidFill>
          <a:ln w="12700">
            <a:solidFill>
              <a:srgbClr val="256FA8"/>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Enseignant</a:t>
            </a:r>
            <a:endParaRPr lang="en-US" sz="1600" dirty="0"/>
          </a:p>
        </p:txBody>
      </p:sp>
      <p:sp>
        <p:nvSpPr>
          <p:cNvPr id="15" name="Text 12"/>
          <p:cNvSpPr/>
          <p:nvPr/>
        </p:nvSpPr>
        <p:spPr>
          <a:xfrm>
            <a:off x="4617720" y="2002536"/>
            <a:ext cx="3017520" cy="2496312"/>
          </a:xfrm>
          <a:prstGeom prst="rect">
            <a:avLst/>
          </a:prstGeom>
          <a:noFill/>
          <a:ln/>
        </p:spPr>
        <p:txBody>
          <a:bodyPr wrap="square" lIns="0" tIns="0" rIns="0" bIns="0" rtlCol="0" anchor="t">
            <a:normAutofit/>
          </a:bodyPr>
          <a:lstStyle/>
          <a:p>
            <a:pPr indent="0" marL="0">
              <a:buNone/>
            </a:pPr>
            <a:r>
              <a:rPr lang="en-US" sz="1400" dirty="0">
                <a:solidFill>
                  <a:srgbClr val="102A43"/>
                </a:solidFill>
              </a:rPr>
              <a:t>Crée et publie les devoirs.</a:t>
            </a:r>
            <a:endParaRPr lang="en-US" sz="1400" dirty="0"/>
          </a:p>
          <a:p>
            <a:pPr indent="0" marL="0">
              <a:buNone/>
            </a:pPr>
            <a:r>
              <a:rPr lang="en-US" sz="1400" dirty="0">
                <a:solidFill>
                  <a:srgbClr val="102A43"/>
                </a:solidFill>
              </a:rPr>
              <a:t>Revoit les soumissions.</a:t>
            </a:r>
            <a:endParaRPr lang="en-US" sz="1400" dirty="0"/>
          </a:p>
          <a:p>
            <a:pPr indent="0" marL="0">
              <a:buNone/>
            </a:pPr>
            <a:r>
              <a:rPr lang="en-US" sz="1400" dirty="0">
                <a:solidFill>
                  <a:srgbClr val="102A43"/>
                </a:solidFill>
              </a:rPr>
              <a:t>Consulte les alertes.</a:t>
            </a:r>
            <a:endParaRPr lang="en-US" sz="1400" dirty="0"/>
          </a:p>
        </p:txBody>
      </p:sp>
      <p:sp>
        <p:nvSpPr>
          <p:cNvPr id="16" name="Shape 13"/>
          <p:cNvSpPr/>
          <p:nvPr/>
        </p:nvSpPr>
        <p:spPr>
          <a:xfrm>
            <a:off x="8092440" y="1417320"/>
            <a:ext cx="3429000" cy="3246120"/>
          </a:xfrm>
          <a:prstGeom prst="roundRect">
            <a:avLst>
              <a:gd name="adj" fmla="val 2254"/>
            </a:avLst>
          </a:prstGeom>
          <a:solidFill>
            <a:srgbClr val="FFFFFF"/>
          </a:solidFill>
          <a:ln w="12700">
            <a:solidFill>
              <a:srgbClr val="D8E4EE"/>
            </a:solidFill>
            <a:prstDash val="solid"/>
          </a:ln>
        </p:spPr>
      </p:sp>
      <p:sp>
        <p:nvSpPr>
          <p:cNvPr id="17" name="Shape 14"/>
          <p:cNvSpPr/>
          <p:nvPr/>
        </p:nvSpPr>
        <p:spPr>
          <a:xfrm>
            <a:off x="8092440" y="1417320"/>
            <a:ext cx="73152" cy="324612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Étudiant</a:t>
            </a:r>
            <a:endParaRPr lang="en-US" sz="1600" dirty="0"/>
          </a:p>
        </p:txBody>
      </p:sp>
      <p:sp>
        <p:nvSpPr>
          <p:cNvPr id="19" name="Text 16"/>
          <p:cNvSpPr/>
          <p:nvPr/>
        </p:nvSpPr>
        <p:spPr>
          <a:xfrm>
            <a:off x="8321040" y="2002536"/>
            <a:ext cx="3017520" cy="2496312"/>
          </a:xfrm>
          <a:prstGeom prst="rect">
            <a:avLst/>
          </a:prstGeom>
          <a:noFill/>
          <a:ln/>
        </p:spPr>
        <p:txBody>
          <a:bodyPr wrap="square" lIns="0" tIns="0" rIns="0" bIns="0" rtlCol="0" anchor="t">
            <a:normAutofit/>
          </a:bodyPr>
          <a:lstStyle/>
          <a:p>
            <a:pPr indent="0" marL="0">
              <a:buNone/>
            </a:pPr>
            <a:r>
              <a:rPr lang="en-US" sz="1400" dirty="0">
                <a:solidFill>
                  <a:srgbClr val="102A43"/>
                </a:solidFill>
              </a:rPr>
              <a:t>Voit les devoirs publiés.</a:t>
            </a:r>
            <a:endParaRPr lang="en-US" sz="1400" dirty="0"/>
          </a:p>
          <a:p>
            <a:pPr indent="0" marL="0">
              <a:buNone/>
            </a:pPr>
            <a:r>
              <a:rPr lang="en-US" sz="1400" dirty="0">
                <a:solidFill>
                  <a:srgbClr val="102A43"/>
                </a:solidFill>
              </a:rPr>
              <a:t>Soumet texte ou PDF.</a:t>
            </a:r>
            <a:endParaRPr lang="en-US" sz="1400" dirty="0"/>
          </a:p>
          <a:p>
            <a:pPr indent="0" marL="0">
              <a:buNone/>
            </a:pPr>
            <a:r>
              <a:rPr lang="en-US" sz="1400" dirty="0">
                <a:solidFill>
                  <a:srgbClr val="102A43"/>
                </a:solidFill>
              </a:rPr>
              <a:t>Reçoit score et feedback.</a:t>
            </a:r>
            <a:endParaRPr lang="en-US" sz="1400" dirty="0"/>
          </a:p>
        </p:txBody>
      </p:sp>
      <p:sp>
        <p:nvSpPr>
          <p:cNvPr id="20" name="Text 17"/>
          <p:cNvSpPr/>
          <p:nvPr/>
        </p:nvSpPr>
        <p:spPr>
          <a:xfrm>
            <a:off x="713232" y="5349240"/>
            <a:ext cx="10515600" cy="320040"/>
          </a:xfrm>
          <a:prstGeom prst="rect">
            <a:avLst/>
          </a:prstGeom>
          <a:noFill/>
          <a:ln/>
        </p:spPr>
        <p:txBody>
          <a:bodyPr wrap="square" lIns="0" tIns="0" rIns="0" bIns="0" rtlCol="0" anchor="ctr"/>
          <a:lstStyle/>
          <a:p>
            <a:pPr algn="ctr" indent="0" marL="0">
              <a:buNone/>
            </a:pPr>
            <a:r>
              <a:rPr lang="en-US" sz="1800" b="1" dirty="0">
                <a:solidFill>
                  <a:srgbClr val="102A43"/>
                </a:solidFill>
              </a:rPr>
              <a:t>Chaque rôle voit uniquement les actions nécessaires à son travail.</a:t>
            </a:r>
            <a:endParaRPr lang="en-US" sz="1800" dirty="0"/>
          </a:p>
        </p:txBody>
      </p:sp>
      <p:sp>
        <p:nvSpPr>
          <p:cNvPr id="21" name="Text 18"/>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0:55</a:t>
            </a:r>
            <a:endParaRPr lang="en-US" sz="780" dirty="0"/>
          </a:p>
        </p:txBody>
      </p:sp>
      <p:sp>
        <p:nvSpPr>
          <p:cNvPr id="22" name="Text 19"/>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06 | Démo fonctionnelle</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Cycle enseignant - étudiant</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Text 5"/>
          <p:cNvSpPr/>
          <p:nvPr/>
        </p:nvSpPr>
        <p:spPr>
          <a:xfrm>
            <a:off x="777240" y="1234440"/>
            <a:ext cx="4023360" cy="228600"/>
          </a:xfrm>
          <a:prstGeom prst="rect">
            <a:avLst/>
          </a:prstGeom>
          <a:noFill/>
          <a:ln/>
        </p:spPr>
        <p:txBody>
          <a:bodyPr wrap="square" lIns="0" tIns="0" rIns="0" bIns="0" rtlCol="0" anchor="ctr"/>
          <a:lstStyle/>
          <a:p>
            <a:pPr indent="0" marL="0">
              <a:buNone/>
            </a:pPr>
            <a:r>
              <a:rPr lang="en-US" sz="1600" b="1" dirty="0">
                <a:solidFill>
                  <a:srgbClr val="256FA8"/>
                </a:solidFill>
              </a:rPr>
              <a:t>Côté enseignant</a:t>
            </a:r>
            <a:endParaRPr lang="en-US" sz="1600" dirty="0"/>
          </a:p>
        </p:txBody>
      </p:sp>
      <p:sp>
        <p:nvSpPr>
          <p:cNvPr id="9" name="Text 6"/>
          <p:cNvSpPr/>
          <p:nvPr/>
        </p:nvSpPr>
        <p:spPr>
          <a:xfrm>
            <a:off x="777240" y="1627632"/>
            <a:ext cx="4754880" cy="2331720"/>
          </a:xfrm>
          <a:prstGeom prst="rect">
            <a:avLst/>
          </a:prstGeom>
          <a:noFill/>
          <a:ln/>
        </p:spPr>
        <p:txBody>
          <a:bodyPr wrap="square" lIns="254" tIns="254" rIns="254" bIns="254" rtlCol="0" anchor="t">
            <a:normAutofit/>
          </a:bodyPr>
          <a:lstStyle/>
          <a:p>
            <a:r>
              <a:rPr lang="en-US" sz="1600" dirty="0">
                <a:solidFill>
                  <a:srgbClr val="102A43"/>
                </a:solidFill>
              </a:rPr>
              <a:t>Créer un devoir</a:t>
            </a:r>
            <a:endParaRPr lang="en-US" sz="1600" dirty="0"/>
          </a:p>
          <a:p>
            <a:r>
              <a:rPr lang="en-US" sz="1600" dirty="0">
                <a:solidFill>
                  <a:srgbClr val="102A43"/>
                </a:solidFill>
              </a:rPr>
              <a:t>Choisir questionnaire ou PDF</a:t>
            </a:r>
            <a:endParaRPr lang="en-US" sz="1600" dirty="0"/>
          </a:p>
          <a:p>
            <a:r>
              <a:rPr lang="en-US" sz="1600" dirty="0">
                <a:solidFill>
                  <a:srgbClr val="102A43"/>
                </a:solidFill>
              </a:rPr>
              <a:t>Publier aux étudiants</a:t>
            </a:r>
            <a:endParaRPr lang="en-US" sz="1600" dirty="0"/>
          </a:p>
          <a:p>
            <a:r>
              <a:rPr lang="en-US" sz="1600" dirty="0">
                <a:solidFill>
                  <a:srgbClr val="102A43"/>
                </a:solidFill>
              </a:rPr>
              <a:t>Revoir les soumissions</a:t>
            </a:r>
            <a:endParaRPr lang="en-US" sz="1600" dirty="0"/>
          </a:p>
        </p:txBody>
      </p:sp>
      <p:sp>
        <p:nvSpPr>
          <p:cNvPr id="10" name="Shape 7"/>
          <p:cNvSpPr/>
          <p:nvPr/>
        </p:nvSpPr>
        <p:spPr>
          <a:xfrm>
            <a:off x="5897880" y="1143000"/>
            <a:ext cx="0" cy="4343400"/>
          </a:xfrm>
          <a:prstGeom prst="line">
            <a:avLst/>
          </a:prstGeom>
          <a:noFill/>
          <a:ln w="17780">
            <a:solidFill>
              <a:srgbClr val="D8E4EE"/>
            </a:solidFill>
            <a:prstDash val="solid"/>
          </a:ln>
        </p:spPr>
      </p:sp>
      <p:sp>
        <p:nvSpPr>
          <p:cNvPr id="11" name="Text 8"/>
          <p:cNvSpPr/>
          <p:nvPr/>
        </p:nvSpPr>
        <p:spPr>
          <a:xfrm>
            <a:off x="6400800" y="1234440"/>
            <a:ext cx="4023360" cy="228600"/>
          </a:xfrm>
          <a:prstGeom prst="rect">
            <a:avLst/>
          </a:prstGeom>
          <a:noFill/>
          <a:ln/>
        </p:spPr>
        <p:txBody>
          <a:bodyPr wrap="square" lIns="0" tIns="0" rIns="0" bIns="0" rtlCol="0" anchor="ctr"/>
          <a:lstStyle/>
          <a:p>
            <a:pPr indent="0" marL="0">
              <a:buNone/>
            </a:pPr>
            <a:r>
              <a:rPr lang="en-US" sz="1600" b="1" dirty="0">
                <a:solidFill>
                  <a:srgbClr val="51C4B8"/>
                </a:solidFill>
              </a:rPr>
              <a:t>Côté étudiant</a:t>
            </a:r>
            <a:endParaRPr lang="en-US" sz="1600" dirty="0"/>
          </a:p>
        </p:txBody>
      </p:sp>
      <p:sp>
        <p:nvSpPr>
          <p:cNvPr id="12" name="Text 9"/>
          <p:cNvSpPr/>
          <p:nvPr/>
        </p:nvSpPr>
        <p:spPr>
          <a:xfrm>
            <a:off x="6400800" y="1627632"/>
            <a:ext cx="4754880" cy="2331720"/>
          </a:xfrm>
          <a:prstGeom prst="rect">
            <a:avLst/>
          </a:prstGeom>
          <a:noFill/>
          <a:ln/>
        </p:spPr>
        <p:txBody>
          <a:bodyPr wrap="square" lIns="254" tIns="254" rIns="254" bIns="254" rtlCol="0" anchor="t">
            <a:normAutofit/>
          </a:bodyPr>
          <a:lstStyle/>
          <a:p>
            <a:r>
              <a:rPr lang="en-US" sz="1600" dirty="0">
                <a:solidFill>
                  <a:srgbClr val="102A43"/>
                </a:solidFill>
              </a:rPr>
              <a:t>Voir le devoir publié</a:t>
            </a:r>
            <a:endParaRPr lang="en-US" sz="1600" dirty="0"/>
          </a:p>
          <a:p>
            <a:r>
              <a:rPr lang="en-US" sz="1600" dirty="0">
                <a:solidFill>
                  <a:srgbClr val="102A43"/>
                </a:solidFill>
              </a:rPr>
              <a:t>Répondre ou déposer un PDF</a:t>
            </a:r>
            <a:endParaRPr lang="en-US" sz="1600" dirty="0"/>
          </a:p>
          <a:p>
            <a:r>
              <a:rPr lang="en-US" sz="1600" dirty="0">
                <a:solidFill>
                  <a:srgbClr val="102A43"/>
                </a:solidFill>
              </a:rPr>
              <a:t>Envoyer la soumission</a:t>
            </a:r>
            <a:endParaRPr lang="en-US" sz="1600" dirty="0"/>
          </a:p>
          <a:p>
            <a:r>
              <a:rPr lang="en-US" sz="1600" dirty="0">
                <a:solidFill>
                  <a:srgbClr val="102A43"/>
                </a:solidFill>
              </a:rPr>
              <a:t>Lire score et feedback</a:t>
            </a:r>
            <a:endParaRPr lang="en-US" sz="1600" dirty="0"/>
          </a:p>
        </p:txBody>
      </p:sp>
      <p:sp>
        <p:nvSpPr>
          <p:cNvPr id="13" name="Shape 10"/>
          <p:cNvSpPr/>
          <p:nvPr/>
        </p:nvSpPr>
        <p:spPr>
          <a:xfrm>
            <a:off x="1965960" y="4892040"/>
            <a:ext cx="1188720" cy="347472"/>
          </a:xfrm>
          <a:prstGeom prst="roundRect">
            <a:avLst>
              <a:gd name="adj" fmla="val 21053"/>
            </a:avLst>
          </a:prstGeom>
          <a:solidFill>
            <a:srgbClr val="256FA8"/>
          </a:solidFill>
          <a:ln w="12700">
            <a:solidFill>
              <a:srgbClr val="256FA8"/>
            </a:solidFill>
            <a:prstDash val="solid"/>
          </a:ln>
        </p:spPr>
      </p:sp>
      <p:sp>
        <p:nvSpPr>
          <p:cNvPr id="14" name="Text 11"/>
          <p:cNvSpPr/>
          <p:nvPr/>
        </p:nvSpPr>
        <p:spPr>
          <a:xfrm>
            <a:off x="2075688" y="4974336"/>
            <a:ext cx="96926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Publication</a:t>
            </a:r>
            <a:endParaRPr lang="en-US" sz="950" dirty="0"/>
          </a:p>
        </p:txBody>
      </p:sp>
      <p:sp>
        <p:nvSpPr>
          <p:cNvPr id="15" name="Shape 12"/>
          <p:cNvSpPr/>
          <p:nvPr/>
        </p:nvSpPr>
        <p:spPr>
          <a:xfrm>
            <a:off x="3291840" y="5065776"/>
            <a:ext cx="777240" cy="0"/>
          </a:xfrm>
          <a:prstGeom prst="line">
            <a:avLst/>
          </a:prstGeom>
          <a:noFill/>
          <a:ln w="22860">
            <a:solidFill>
              <a:srgbClr val="256FA8"/>
            </a:solidFill>
            <a:prstDash val="solid"/>
            <a:headEnd type="none"/>
            <a:tailEnd type="triangle"/>
          </a:ln>
        </p:spPr>
      </p:sp>
      <p:sp>
        <p:nvSpPr>
          <p:cNvPr id="16" name="Shape 13"/>
          <p:cNvSpPr/>
          <p:nvPr/>
        </p:nvSpPr>
        <p:spPr>
          <a:xfrm>
            <a:off x="4160520" y="4892040"/>
            <a:ext cx="1234440" cy="347472"/>
          </a:xfrm>
          <a:prstGeom prst="roundRect">
            <a:avLst>
              <a:gd name="adj" fmla="val 21053"/>
            </a:avLst>
          </a:prstGeom>
          <a:solidFill>
            <a:srgbClr val="51C4B8"/>
          </a:solidFill>
          <a:ln w="12700">
            <a:solidFill>
              <a:srgbClr val="51C4B8"/>
            </a:solidFill>
            <a:prstDash val="solid"/>
          </a:ln>
        </p:spPr>
      </p:sp>
      <p:sp>
        <p:nvSpPr>
          <p:cNvPr id="17" name="Text 14"/>
          <p:cNvSpPr/>
          <p:nvPr/>
        </p:nvSpPr>
        <p:spPr>
          <a:xfrm>
            <a:off x="4270248" y="4974336"/>
            <a:ext cx="1014984" cy="146304"/>
          </a:xfrm>
          <a:prstGeom prst="rect">
            <a:avLst/>
          </a:prstGeom>
          <a:noFill/>
          <a:ln/>
        </p:spPr>
        <p:txBody>
          <a:bodyPr wrap="square" lIns="0" tIns="0" rIns="0" bIns="0" rtlCol="0" anchor="ctr">
            <a:normAutofit/>
          </a:bodyPr>
          <a:lstStyle/>
          <a:p>
            <a:pPr algn="ctr" indent="0" marL="0">
              <a:buNone/>
            </a:pPr>
            <a:r>
              <a:rPr lang="en-US" sz="950" b="1" dirty="0">
                <a:solidFill>
                  <a:srgbClr val="102A43"/>
                </a:solidFill>
              </a:rPr>
              <a:t>Soumission</a:t>
            </a:r>
            <a:endParaRPr lang="en-US" sz="950" dirty="0"/>
          </a:p>
        </p:txBody>
      </p:sp>
      <p:sp>
        <p:nvSpPr>
          <p:cNvPr id="18" name="Shape 15"/>
          <p:cNvSpPr/>
          <p:nvPr/>
        </p:nvSpPr>
        <p:spPr>
          <a:xfrm>
            <a:off x="5532120" y="5065776"/>
            <a:ext cx="777240" cy="0"/>
          </a:xfrm>
          <a:prstGeom prst="line">
            <a:avLst/>
          </a:prstGeom>
          <a:noFill/>
          <a:ln w="22860">
            <a:solidFill>
              <a:srgbClr val="256FA8"/>
            </a:solidFill>
            <a:prstDash val="solid"/>
            <a:headEnd type="none"/>
            <a:tailEnd type="triangle"/>
          </a:ln>
        </p:spPr>
      </p:sp>
      <p:sp>
        <p:nvSpPr>
          <p:cNvPr id="19" name="Shape 16"/>
          <p:cNvSpPr/>
          <p:nvPr/>
        </p:nvSpPr>
        <p:spPr>
          <a:xfrm>
            <a:off x="6400800" y="4892040"/>
            <a:ext cx="1234440" cy="347472"/>
          </a:xfrm>
          <a:prstGeom prst="roundRect">
            <a:avLst>
              <a:gd name="adj" fmla="val 21053"/>
            </a:avLst>
          </a:prstGeom>
          <a:solidFill>
            <a:srgbClr val="F0B44C"/>
          </a:solidFill>
          <a:ln w="12700">
            <a:solidFill>
              <a:srgbClr val="F0B44C"/>
            </a:solidFill>
            <a:prstDash val="solid"/>
          </a:ln>
        </p:spPr>
      </p:sp>
      <p:sp>
        <p:nvSpPr>
          <p:cNvPr id="20" name="Text 17"/>
          <p:cNvSpPr/>
          <p:nvPr/>
        </p:nvSpPr>
        <p:spPr>
          <a:xfrm>
            <a:off x="6510528" y="4974336"/>
            <a:ext cx="1014984" cy="146304"/>
          </a:xfrm>
          <a:prstGeom prst="rect">
            <a:avLst/>
          </a:prstGeom>
          <a:noFill/>
          <a:ln/>
        </p:spPr>
        <p:txBody>
          <a:bodyPr wrap="square" lIns="0" tIns="0" rIns="0" bIns="0" rtlCol="0" anchor="ctr">
            <a:normAutofit/>
          </a:bodyPr>
          <a:lstStyle/>
          <a:p>
            <a:pPr algn="ctr" indent="0" marL="0">
              <a:buNone/>
            </a:pPr>
            <a:r>
              <a:rPr lang="en-US" sz="950" b="1" dirty="0">
                <a:solidFill>
                  <a:srgbClr val="102A43"/>
                </a:solidFill>
              </a:rPr>
              <a:t>Feedback IA</a:t>
            </a:r>
            <a:endParaRPr lang="en-US" sz="950" dirty="0"/>
          </a:p>
        </p:txBody>
      </p:sp>
      <p:sp>
        <p:nvSpPr>
          <p:cNvPr id="21" name="Shape 18"/>
          <p:cNvSpPr/>
          <p:nvPr/>
        </p:nvSpPr>
        <p:spPr>
          <a:xfrm>
            <a:off x="7772400" y="5065776"/>
            <a:ext cx="777240" cy="0"/>
          </a:xfrm>
          <a:prstGeom prst="line">
            <a:avLst/>
          </a:prstGeom>
          <a:noFill/>
          <a:ln w="22860">
            <a:solidFill>
              <a:srgbClr val="256FA8"/>
            </a:solidFill>
            <a:prstDash val="solid"/>
            <a:headEnd type="none"/>
            <a:tailEnd type="triangle"/>
          </a:ln>
        </p:spPr>
      </p:sp>
      <p:sp>
        <p:nvSpPr>
          <p:cNvPr id="22" name="Shape 19"/>
          <p:cNvSpPr/>
          <p:nvPr/>
        </p:nvSpPr>
        <p:spPr>
          <a:xfrm>
            <a:off x="8641080" y="4892040"/>
            <a:ext cx="960120" cy="347472"/>
          </a:xfrm>
          <a:prstGeom prst="roundRect">
            <a:avLst>
              <a:gd name="adj" fmla="val 21053"/>
            </a:avLst>
          </a:prstGeom>
          <a:solidFill>
            <a:srgbClr val="133B5C"/>
          </a:solidFill>
          <a:ln w="12700">
            <a:solidFill>
              <a:srgbClr val="133B5C"/>
            </a:solidFill>
            <a:prstDash val="solid"/>
          </a:ln>
        </p:spPr>
      </p:sp>
      <p:sp>
        <p:nvSpPr>
          <p:cNvPr id="23" name="Text 20"/>
          <p:cNvSpPr/>
          <p:nvPr/>
        </p:nvSpPr>
        <p:spPr>
          <a:xfrm>
            <a:off x="8750808" y="4974336"/>
            <a:ext cx="74066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Revue</a:t>
            </a:r>
            <a:endParaRPr lang="en-US" sz="950" dirty="0"/>
          </a:p>
        </p:txBody>
      </p:sp>
      <p:sp>
        <p:nvSpPr>
          <p:cNvPr id="24" name="Text 21"/>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1:00</a:t>
            </a:r>
            <a:endParaRPr lang="en-US" sz="780" dirty="0"/>
          </a:p>
        </p:txBody>
      </p:sp>
      <p:sp>
        <p:nvSpPr>
          <p:cNvPr id="25" name="Text 22"/>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07 | Automatisation</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Workflow n8n et IA</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Text 5"/>
          <p:cNvSpPr/>
          <p:nvPr/>
        </p:nvSpPr>
        <p:spPr>
          <a:xfrm>
            <a:off x="594360" y="1078992"/>
            <a:ext cx="10241280" cy="310896"/>
          </a:xfrm>
          <a:prstGeom prst="rect">
            <a:avLst/>
          </a:prstGeom>
          <a:noFill/>
          <a:ln/>
        </p:spPr>
        <p:txBody>
          <a:bodyPr wrap="square" lIns="0" tIns="0" rIns="0" bIns="0" rtlCol="0" anchor="ctr">
            <a:normAutofit/>
          </a:bodyPr>
          <a:lstStyle/>
          <a:p>
            <a:pPr indent="0" marL="0">
              <a:buNone/>
            </a:pPr>
            <a:r>
              <a:rPr lang="en-US" sz="1500" b="1" dirty="0">
                <a:solidFill>
                  <a:srgbClr val="256FA8"/>
                </a:solidFill>
              </a:rPr>
              <a:t>n8n orchestre la correction sans mélanger la logique IA avec le backend.</a:t>
            </a:r>
            <a:endParaRPr lang="en-US" sz="1500" dirty="0"/>
          </a:p>
        </p:txBody>
      </p:sp>
      <p:sp>
        <p:nvSpPr>
          <p:cNvPr id="9" name="Shape 6"/>
          <p:cNvSpPr/>
          <p:nvPr/>
        </p:nvSpPr>
        <p:spPr>
          <a:xfrm>
            <a:off x="658368" y="1874520"/>
            <a:ext cx="1600200" cy="914400"/>
          </a:xfrm>
          <a:prstGeom prst="roundRect">
            <a:avLst>
              <a:gd name="adj" fmla="val 8000"/>
            </a:avLst>
          </a:prstGeom>
          <a:solidFill>
            <a:srgbClr val="256FA8"/>
          </a:solidFill>
          <a:ln w="12700">
            <a:solidFill>
              <a:srgbClr val="256FA8"/>
            </a:solidFill>
            <a:prstDash val="solid"/>
          </a:ln>
        </p:spPr>
      </p:sp>
      <p:sp>
        <p:nvSpPr>
          <p:cNvPr id="10" name="Text 7"/>
          <p:cNvSpPr/>
          <p:nvPr/>
        </p:nvSpPr>
        <p:spPr>
          <a:xfrm>
            <a:off x="731520" y="2020824"/>
            <a:ext cx="1453896" cy="7498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1</a:t>
            </a:r>
            <a:endParaRPr lang="en-US" sz="1150" dirty="0"/>
          </a:p>
          <a:p>
            <a:pPr algn="ctr" indent="0" marL="0">
              <a:buNone/>
            </a:pPr>
            <a:r>
              <a:rPr lang="en-US" sz="1150" b="1" dirty="0">
                <a:solidFill>
                  <a:srgbClr val="FFFFFF"/>
                </a:solidFill>
              </a:rPr>
              <a:t>Webhook</a:t>
            </a:r>
            <a:endParaRPr lang="en-US" sz="1150" dirty="0"/>
          </a:p>
          <a:p>
            <a:pPr algn="ctr" indent="0" marL="0">
              <a:buNone/>
            </a:pPr>
            <a:r>
              <a:rPr lang="en-US" sz="1150" b="1" dirty="0">
                <a:solidFill>
                  <a:srgbClr val="FFFFFF"/>
                </a:solidFill>
              </a:rPr>
              <a:t>soumission</a:t>
            </a:r>
            <a:endParaRPr lang="en-US" sz="1150" dirty="0"/>
          </a:p>
        </p:txBody>
      </p:sp>
      <p:sp>
        <p:nvSpPr>
          <p:cNvPr id="11" name="Shape 8"/>
          <p:cNvSpPr/>
          <p:nvPr/>
        </p:nvSpPr>
        <p:spPr>
          <a:xfrm>
            <a:off x="2359152" y="2331720"/>
            <a:ext cx="475488" cy="0"/>
          </a:xfrm>
          <a:prstGeom prst="line">
            <a:avLst/>
          </a:prstGeom>
          <a:noFill/>
          <a:ln w="22860">
            <a:solidFill>
              <a:srgbClr val="256FA8"/>
            </a:solidFill>
            <a:prstDash val="solid"/>
            <a:headEnd type="none"/>
            <a:tailEnd type="triangle"/>
          </a:ln>
        </p:spPr>
      </p:sp>
      <p:sp>
        <p:nvSpPr>
          <p:cNvPr id="12" name="Shape 9"/>
          <p:cNvSpPr/>
          <p:nvPr/>
        </p:nvSpPr>
        <p:spPr>
          <a:xfrm>
            <a:off x="2944368" y="1874520"/>
            <a:ext cx="1600200" cy="914400"/>
          </a:xfrm>
          <a:prstGeom prst="roundRect">
            <a:avLst>
              <a:gd name="adj" fmla="val 8000"/>
            </a:avLst>
          </a:prstGeom>
          <a:solidFill>
            <a:srgbClr val="51C4B8"/>
          </a:solidFill>
          <a:ln w="12700">
            <a:solidFill>
              <a:srgbClr val="51C4B8"/>
            </a:solidFill>
            <a:prstDash val="solid"/>
          </a:ln>
        </p:spPr>
      </p:sp>
      <p:sp>
        <p:nvSpPr>
          <p:cNvPr id="13" name="Text 10"/>
          <p:cNvSpPr/>
          <p:nvPr/>
        </p:nvSpPr>
        <p:spPr>
          <a:xfrm>
            <a:off x="3017520" y="2020824"/>
            <a:ext cx="1453896" cy="7498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2</a:t>
            </a:r>
            <a:endParaRPr lang="en-US" sz="1150" dirty="0"/>
          </a:p>
          <a:p>
            <a:pPr algn="ctr" indent="0" marL="0">
              <a:buNone/>
            </a:pPr>
            <a:r>
              <a:rPr lang="en-US" sz="1150" b="1" dirty="0">
                <a:solidFill>
                  <a:srgbClr val="FFFFFF"/>
                </a:solidFill>
              </a:rPr>
              <a:t>Normaliser</a:t>
            </a:r>
            <a:endParaRPr lang="en-US" sz="1150" dirty="0"/>
          </a:p>
          <a:p>
            <a:pPr algn="ctr" indent="0" marL="0">
              <a:buNone/>
            </a:pPr>
            <a:r>
              <a:rPr lang="en-US" sz="1150" b="1" dirty="0">
                <a:solidFill>
                  <a:srgbClr val="FFFFFF"/>
                </a:solidFill>
              </a:rPr>
              <a:t>payload</a:t>
            </a:r>
            <a:endParaRPr lang="en-US" sz="1150" dirty="0"/>
          </a:p>
        </p:txBody>
      </p:sp>
      <p:sp>
        <p:nvSpPr>
          <p:cNvPr id="14" name="Shape 11"/>
          <p:cNvSpPr/>
          <p:nvPr/>
        </p:nvSpPr>
        <p:spPr>
          <a:xfrm>
            <a:off x="4645152" y="2331720"/>
            <a:ext cx="475488" cy="0"/>
          </a:xfrm>
          <a:prstGeom prst="line">
            <a:avLst/>
          </a:prstGeom>
          <a:noFill/>
          <a:ln w="22860">
            <a:solidFill>
              <a:srgbClr val="256FA8"/>
            </a:solidFill>
            <a:prstDash val="solid"/>
            <a:headEnd type="none"/>
            <a:tailEnd type="triangle"/>
          </a:ln>
        </p:spPr>
      </p:sp>
      <p:sp>
        <p:nvSpPr>
          <p:cNvPr id="15" name="Shape 12"/>
          <p:cNvSpPr/>
          <p:nvPr/>
        </p:nvSpPr>
        <p:spPr>
          <a:xfrm>
            <a:off x="5230368" y="1874520"/>
            <a:ext cx="1600200" cy="914400"/>
          </a:xfrm>
          <a:prstGeom prst="roundRect">
            <a:avLst>
              <a:gd name="adj" fmla="val 8000"/>
            </a:avLst>
          </a:prstGeom>
          <a:solidFill>
            <a:srgbClr val="F0B44C"/>
          </a:solidFill>
          <a:ln w="12700">
            <a:solidFill>
              <a:srgbClr val="F0B44C"/>
            </a:solidFill>
            <a:prstDash val="solid"/>
          </a:ln>
        </p:spPr>
      </p:sp>
      <p:sp>
        <p:nvSpPr>
          <p:cNvPr id="16" name="Text 13"/>
          <p:cNvSpPr/>
          <p:nvPr/>
        </p:nvSpPr>
        <p:spPr>
          <a:xfrm>
            <a:off x="5303520" y="2020824"/>
            <a:ext cx="1453896" cy="7498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3</a:t>
            </a:r>
            <a:endParaRPr lang="en-US" sz="1150" dirty="0"/>
          </a:p>
          <a:p>
            <a:pPr algn="ctr" indent="0" marL="0">
              <a:buNone/>
            </a:pPr>
            <a:r>
              <a:rPr lang="en-US" sz="1150" b="1" dirty="0">
                <a:solidFill>
                  <a:srgbClr val="FFFFFF"/>
                </a:solidFill>
              </a:rPr>
              <a:t>Extraire</a:t>
            </a:r>
            <a:endParaRPr lang="en-US" sz="1150" dirty="0"/>
          </a:p>
          <a:p>
            <a:pPr algn="ctr" indent="0" marL="0">
              <a:buNone/>
            </a:pPr>
            <a:r>
              <a:rPr lang="en-US" sz="1150" b="1" dirty="0">
                <a:solidFill>
                  <a:srgbClr val="FFFFFF"/>
                </a:solidFill>
              </a:rPr>
              <a:t>texte PDF</a:t>
            </a:r>
            <a:endParaRPr lang="en-US" sz="1150" dirty="0"/>
          </a:p>
        </p:txBody>
      </p:sp>
      <p:sp>
        <p:nvSpPr>
          <p:cNvPr id="17" name="Shape 14"/>
          <p:cNvSpPr/>
          <p:nvPr/>
        </p:nvSpPr>
        <p:spPr>
          <a:xfrm>
            <a:off x="6931152" y="2331720"/>
            <a:ext cx="475488" cy="0"/>
          </a:xfrm>
          <a:prstGeom prst="line">
            <a:avLst/>
          </a:prstGeom>
          <a:noFill/>
          <a:ln w="22860">
            <a:solidFill>
              <a:srgbClr val="256FA8"/>
            </a:solidFill>
            <a:prstDash val="solid"/>
            <a:headEnd type="none"/>
            <a:tailEnd type="triangle"/>
          </a:ln>
        </p:spPr>
      </p:sp>
      <p:sp>
        <p:nvSpPr>
          <p:cNvPr id="18" name="Shape 15"/>
          <p:cNvSpPr/>
          <p:nvPr/>
        </p:nvSpPr>
        <p:spPr>
          <a:xfrm>
            <a:off x="7516368" y="1874520"/>
            <a:ext cx="1600200" cy="914400"/>
          </a:xfrm>
          <a:prstGeom prst="roundRect">
            <a:avLst>
              <a:gd name="adj" fmla="val 8000"/>
            </a:avLst>
          </a:prstGeom>
          <a:solidFill>
            <a:srgbClr val="D9524A"/>
          </a:solidFill>
          <a:ln w="12700">
            <a:solidFill>
              <a:srgbClr val="D9524A"/>
            </a:solidFill>
            <a:prstDash val="solid"/>
          </a:ln>
        </p:spPr>
      </p:sp>
      <p:sp>
        <p:nvSpPr>
          <p:cNvPr id="19" name="Text 16"/>
          <p:cNvSpPr/>
          <p:nvPr/>
        </p:nvSpPr>
        <p:spPr>
          <a:xfrm>
            <a:off x="7589520" y="2020824"/>
            <a:ext cx="1453896" cy="7498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4</a:t>
            </a:r>
            <a:endParaRPr lang="en-US" sz="1150" dirty="0"/>
          </a:p>
          <a:p>
            <a:pPr algn="ctr" indent="0" marL="0">
              <a:buNone/>
            </a:pPr>
            <a:r>
              <a:rPr lang="en-US" sz="1150" b="1" dirty="0">
                <a:solidFill>
                  <a:srgbClr val="FFFFFF"/>
                </a:solidFill>
              </a:rPr>
              <a:t>Gemini</a:t>
            </a:r>
            <a:endParaRPr lang="en-US" sz="1150" dirty="0"/>
          </a:p>
          <a:p>
            <a:pPr algn="ctr" indent="0" marL="0">
              <a:buNone/>
            </a:pPr>
            <a:r>
              <a:rPr lang="en-US" sz="1150" b="1" dirty="0">
                <a:solidFill>
                  <a:srgbClr val="FFFFFF"/>
                </a:solidFill>
              </a:rPr>
              <a:t>analyse JSON</a:t>
            </a:r>
            <a:endParaRPr lang="en-US" sz="1150" dirty="0"/>
          </a:p>
        </p:txBody>
      </p:sp>
      <p:sp>
        <p:nvSpPr>
          <p:cNvPr id="20" name="Shape 17"/>
          <p:cNvSpPr/>
          <p:nvPr/>
        </p:nvSpPr>
        <p:spPr>
          <a:xfrm>
            <a:off x="9217152" y="2331720"/>
            <a:ext cx="475488" cy="0"/>
          </a:xfrm>
          <a:prstGeom prst="line">
            <a:avLst/>
          </a:prstGeom>
          <a:noFill/>
          <a:ln w="22860">
            <a:solidFill>
              <a:srgbClr val="256FA8"/>
            </a:solidFill>
            <a:prstDash val="solid"/>
            <a:headEnd type="none"/>
            <a:tailEnd type="triangle"/>
          </a:ln>
        </p:spPr>
      </p:sp>
      <p:sp>
        <p:nvSpPr>
          <p:cNvPr id="21" name="Shape 18"/>
          <p:cNvSpPr/>
          <p:nvPr/>
        </p:nvSpPr>
        <p:spPr>
          <a:xfrm>
            <a:off x="9802368" y="1874520"/>
            <a:ext cx="1600200" cy="914400"/>
          </a:xfrm>
          <a:prstGeom prst="roundRect">
            <a:avLst>
              <a:gd name="adj" fmla="val 8000"/>
            </a:avLst>
          </a:prstGeom>
          <a:solidFill>
            <a:srgbClr val="2E8B57"/>
          </a:solidFill>
          <a:ln w="12700">
            <a:solidFill>
              <a:srgbClr val="2E8B57"/>
            </a:solidFill>
            <a:prstDash val="solid"/>
          </a:ln>
        </p:spPr>
      </p:sp>
      <p:sp>
        <p:nvSpPr>
          <p:cNvPr id="22" name="Text 19"/>
          <p:cNvSpPr/>
          <p:nvPr/>
        </p:nvSpPr>
        <p:spPr>
          <a:xfrm>
            <a:off x="9875520" y="2020824"/>
            <a:ext cx="1453896" cy="74980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5</a:t>
            </a:r>
            <a:endParaRPr lang="en-US" sz="1150" dirty="0"/>
          </a:p>
          <a:p>
            <a:pPr algn="ctr" indent="0" marL="0">
              <a:buNone/>
            </a:pPr>
            <a:r>
              <a:rPr lang="en-US" sz="1150" b="1" dirty="0">
                <a:solidFill>
                  <a:srgbClr val="FFFFFF"/>
                </a:solidFill>
              </a:rPr>
              <a:t>Callback</a:t>
            </a:r>
            <a:endParaRPr lang="en-US" sz="1150" dirty="0"/>
          </a:p>
          <a:p>
            <a:pPr algn="ctr" indent="0" marL="0">
              <a:buNone/>
            </a:pPr>
            <a:r>
              <a:rPr lang="en-US" sz="1150" b="1" dirty="0">
                <a:solidFill>
                  <a:srgbClr val="FFFFFF"/>
                </a:solidFill>
              </a:rPr>
              <a:t>backend</a:t>
            </a:r>
            <a:endParaRPr lang="en-US" sz="1150" dirty="0"/>
          </a:p>
        </p:txBody>
      </p:sp>
      <p:sp>
        <p:nvSpPr>
          <p:cNvPr id="23" name="Shape 20"/>
          <p:cNvSpPr/>
          <p:nvPr/>
        </p:nvSpPr>
        <p:spPr>
          <a:xfrm>
            <a:off x="777240" y="3657600"/>
            <a:ext cx="3429000" cy="1417320"/>
          </a:xfrm>
          <a:prstGeom prst="roundRect">
            <a:avLst>
              <a:gd name="adj" fmla="val 5161"/>
            </a:avLst>
          </a:prstGeom>
          <a:solidFill>
            <a:srgbClr val="FFFFFF"/>
          </a:solidFill>
          <a:ln w="12700">
            <a:solidFill>
              <a:srgbClr val="D8E4EE"/>
            </a:solidFill>
            <a:prstDash val="solid"/>
          </a:ln>
        </p:spPr>
      </p:sp>
      <p:sp>
        <p:nvSpPr>
          <p:cNvPr id="24" name="Shape 21"/>
          <p:cNvSpPr/>
          <p:nvPr/>
        </p:nvSpPr>
        <p:spPr>
          <a:xfrm>
            <a:off x="777240" y="3657600"/>
            <a:ext cx="73152" cy="1417320"/>
          </a:xfrm>
          <a:prstGeom prst="rect">
            <a:avLst/>
          </a:prstGeom>
          <a:solidFill>
            <a:srgbClr val="256FA8"/>
          </a:solidFill>
          <a:ln w="12700">
            <a:solidFill>
              <a:srgbClr val="256FA8"/>
            </a:solidFill>
            <a:prstDash val="solid"/>
          </a:ln>
        </p:spPr>
      </p:sp>
      <p:sp>
        <p:nvSpPr>
          <p:cNvPr id="25" name="Text 22"/>
          <p:cNvSpPr/>
          <p:nvPr/>
        </p:nvSpPr>
        <p:spPr>
          <a:xfrm>
            <a:off x="1005840" y="382219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Résultat IA</a:t>
            </a:r>
            <a:endParaRPr lang="en-US" sz="1600" dirty="0"/>
          </a:p>
        </p:txBody>
      </p:sp>
      <p:sp>
        <p:nvSpPr>
          <p:cNvPr id="26" name="Text 23"/>
          <p:cNvSpPr/>
          <p:nvPr/>
        </p:nvSpPr>
        <p:spPr>
          <a:xfrm>
            <a:off x="1005840" y="4242816"/>
            <a:ext cx="3017520" cy="667512"/>
          </a:xfrm>
          <a:prstGeom prst="rect">
            <a:avLst/>
          </a:prstGeom>
          <a:noFill/>
          <a:ln/>
        </p:spPr>
        <p:txBody>
          <a:bodyPr wrap="square" lIns="0" tIns="0" rIns="0" bIns="0" rtlCol="0" anchor="t">
            <a:normAutofit/>
          </a:bodyPr>
          <a:lstStyle/>
          <a:p>
            <a:pPr indent="0" marL="0">
              <a:buNone/>
            </a:pPr>
            <a:r>
              <a:rPr lang="en-US" sz="1400" dirty="0">
                <a:solidFill>
                  <a:srgbClr val="102A43"/>
                </a:solidFill>
              </a:rPr>
              <a:t>Score /20</a:t>
            </a:r>
            <a:endParaRPr lang="en-US" sz="1400" dirty="0"/>
          </a:p>
          <a:p>
            <a:pPr indent="0" marL="0">
              <a:buNone/>
            </a:pPr>
            <a:r>
              <a:rPr lang="en-US" sz="1400" dirty="0">
                <a:solidFill>
                  <a:srgbClr val="102A43"/>
                </a:solidFill>
              </a:rPr>
              <a:t>Feedback en français</a:t>
            </a:r>
            <a:endParaRPr lang="en-US" sz="1400" dirty="0"/>
          </a:p>
          <a:p>
            <a:pPr indent="0" marL="0">
              <a:buNone/>
            </a:pPr>
            <a:r>
              <a:rPr lang="en-US" sz="1400" dirty="0">
                <a:solidFill>
                  <a:srgbClr val="102A43"/>
                </a:solidFill>
              </a:rPr>
              <a:t>Alertes et action recommandée</a:t>
            </a:r>
            <a:endParaRPr lang="en-US" sz="1400" dirty="0"/>
          </a:p>
        </p:txBody>
      </p:sp>
      <p:sp>
        <p:nvSpPr>
          <p:cNvPr id="27" name="Shape 24"/>
          <p:cNvSpPr/>
          <p:nvPr/>
        </p:nvSpPr>
        <p:spPr>
          <a:xfrm>
            <a:off x="4389120" y="3657600"/>
            <a:ext cx="3429000" cy="1417320"/>
          </a:xfrm>
          <a:prstGeom prst="roundRect">
            <a:avLst>
              <a:gd name="adj" fmla="val 5161"/>
            </a:avLst>
          </a:prstGeom>
          <a:solidFill>
            <a:srgbClr val="FFFFFF"/>
          </a:solidFill>
          <a:ln w="12700">
            <a:solidFill>
              <a:srgbClr val="D8E4EE"/>
            </a:solidFill>
            <a:prstDash val="solid"/>
          </a:ln>
        </p:spPr>
      </p:sp>
      <p:sp>
        <p:nvSpPr>
          <p:cNvPr id="28" name="Shape 25"/>
          <p:cNvSpPr/>
          <p:nvPr/>
        </p:nvSpPr>
        <p:spPr>
          <a:xfrm>
            <a:off x="4389120" y="3657600"/>
            <a:ext cx="73152" cy="1417320"/>
          </a:xfrm>
          <a:prstGeom prst="rect">
            <a:avLst/>
          </a:prstGeom>
          <a:solidFill>
            <a:srgbClr val="51C4B8"/>
          </a:solidFill>
          <a:ln w="12700">
            <a:solidFill>
              <a:srgbClr val="51C4B8"/>
            </a:solidFill>
            <a:prstDash val="solid"/>
          </a:ln>
        </p:spPr>
      </p:sp>
      <p:sp>
        <p:nvSpPr>
          <p:cNvPr id="29" name="Text 26"/>
          <p:cNvSpPr/>
          <p:nvPr/>
        </p:nvSpPr>
        <p:spPr>
          <a:xfrm>
            <a:off x="4617720" y="382219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Pourquoi n8n ?</a:t>
            </a:r>
            <a:endParaRPr lang="en-US" sz="1600" dirty="0"/>
          </a:p>
        </p:txBody>
      </p:sp>
      <p:sp>
        <p:nvSpPr>
          <p:cNvPr id="30" name="Text 27"/>
          <p:cNvSpPr/>
          <p:nvPr/>
        </p:nvSpPr>
        <p:spPr>
          <a:xfrm>
            <a:off x="4617720" y="4242816"/>
            <a:ext cx="3017520" cy="667512"/>
          </a:xfrm>
          <a:prstGeom prst="rect">
            <a:avLst/>
          </a:prstGeom>
          <a:noFill/>
          <a:ln/>
        </p:spPr>
        <p:txBody>
          <a:bodyPr wrap="square" lIns="0" tIns="0" rIns="0" bIns="0" rtlCol="0" anchor="t">
            <a:normAutofit/>
          </a:bodyPr>
          <a:lstStyle/>
          <a:p>
            <a:pPr indent="0" marL="0">
              <a:buNone/>
            </a:pPr>
            <a:r>
              <a:rPr lang="en-US" sz="1400" dirty="0">
                <a:solidFill>
                  <a:srgbClr val="102A43"/>
                </a:solidFill>
              </a:rPr>
              <a:t>Webhook</a:t>
            </a:r>
            <a:endParaRPr lang="en-US" sz="1400" dirty="0"/>
          </a:p>
          <a:p>
            <a:pPr indent="0" marL="0">
              <a:buNone/>
            </a:pPr>
            <a:r>
              <a:rPr lang="en-US" sz="1400" dirty="0">
                <a:solidFill>
                  <a:srgbClr val="102A43"/>
                </a:solidFill>
              </a:rPr>
              <a:t>Extraction PDF</a:t>
            </a:r>
            <a:endParaRPr lang="en-US" sz="1400" dirty="0"/>
          </a:p>
          <a:p>
            <a:pPr indent="0" marL="0">
              <a:buNone/>
            </a:pPr>
            <a:r>
              <a:rPr lang="en-US" sz="1400" dirty="0">
                <a:solidFill>
                  <a:srgbClr val="102A43"/>
                </a:solidFill>
              </a:rPr>
              <a:t>Appel Gemini</a:t>
            </a:r>
            <a:endParaRPr lang="en-US" sz="1400" dirty="0"/>
          </a:p>
          <a:p>
            <a:pPr indent="0" marL="0">
              <a:buNone/>
            </a:pPr>
            <a:r>
              <a:rPr lang="en-US" sz="1400" dirty="0">
                <a:solidFill>
                  <a:srgbClr val="102A43"/>
                </a:solidFill>
              </a:rPr>
              <a:t>Alertes et rapports</a:t>
            </a:r>
            <a:endParaRPr lang="en-US" sz="1400" dirty="0"/>
          </a:p>
        </p:txBody>
      </p:sp>
      <p:sp>
        <p:nvSpPr>
          <p:cNvPr id="31" name="Shape 28"/>
          <p:cNvSpPr/>
          <p:nvPr/>
        </p:nvSpPr>
        <p:spPr>
          <a:xfrm>
            <a:off x="8001000" y="3657600"/>
            <a:ext cx="3429000" cy="1417320"/>
          </a:xfrm>
          <a:prstGeom prst="roundRect">
            <a:avLst>
              <a:gd name="adj" fmla="val 5161"/>
            </a:avLst>
          </a:prstGeom>
          <a:solidFill>
            <a:srgbClr val="FFFFFF"/>
          </a:solidFill>
          <a:ln w="12700">
            <a:solidFill>
              <a:srgbClr val="D8E4EE"/>
            </a:solidFill>
            <a:prstDash val="solid"/>
          </a:ln>
        </p:spPr>
      </p:sp>
      <p:sp>
        <p:nvSpPr>
          <p:cNvPr id="32" name="Shape 29"/>
          <p:cNvSpPr/>
          <p:nvPr/>
        </p:nvSpPr>
        <p:spPr>
          <a:xfrm>
            <a:off x="8001000" y="3657600"/>
            <a:ext cx="73152" cy="1417320"/>
          </a:xfrm>
          <a:prstGeom prst="rect">
            <a:avLst/>
          </a:prstGeom>
          <a:solidFill>
            <a:srgbClr val="D9524A"/>
          </a:solidFill>
          <a:ln w="12700">
            <a:solidFill>
              <a:srgbClr val="D9524A"/>
            </a:solidFill>
            <a:prstDash val="solid"/>
          </a:ln>
        </p:spPr>
      </p:sp>
      <p:sp>
        <p:nvSpPr>
          <p:cNvPr id="33" name="Text 30"/>
          <p:cNvSpPr/>
          <p:nvPr/>
        </p:nvSpPr>
        <p:spPr>
          <a:xfrm>
            <a:off x="8229600" y="382219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Sécurité</a:t>
            </a:r>
            <a:endParaRPr lang="en-US" sz="1600" dirty="0"/>
          </a:p>
        </p:txBody>
      </p:sp>
      <p:sp>
        <p:nvSpPr>
          <p:cNvPr id="34" name="Text 31"/>
          <p:cNvSpPr/>
          <p:nvPr/>
        </p:nvSpPr>
        <p:spPr>
          <a:xfrm>
            <a:off x="8229600" y="4242816"/>
            <a:ext cx="3017520" cy="667512"/>
          </a:xfrm>
          <a:prstGeom prst="rect">
            <a:avLst/>
          </a:prstGeom>
          <a:noFill/>
          <a:ln/>
        </p:spPr>
        <p:txBody>
          <a:bodyPr wrap="square" lIns="0" tIns="0" rIns="0" bIns="0" rtlCol="0" anchor="t">
            <a:normAutofit/>
          </a:bodyPr>
          <a:lstStyle/>
          <a:p>
            <a:pPr indent="0" marL="0">
              <a:buNone/>
            </a:pPr>
            <a:r>
              <a:rPr lang="en-US" sz="1400" dirty="0">
                <a:solidFill>
                  <a:srgbClr val="102A43"/>
                </a:solidFill>
              </a:rPr>
              <a:t>Le callback backend est protégé par le header x-n8n-secret.</a:t>
            </a:r>
            <a:endParaRPr lang="en-US" sz="1400" dirty="0"/>
          </a:p>
        </p:txBody>
      </p:sp>
      <p:sp>
        <p:nvSpPr>
          <p:cNvPr id="35" name="Text 32"/>
          <p:cNvSpPr/>
          <p:nvPr/>
        </p:nvSpPr>
        <p:spPr>
          <a:xfrm>
            <a:off x="822960" y="5650992"/>
            <a:ext cx="10332720" cy="274320"/>
          </a:xfrm>
          <a:prstGeom prst="rect">
            <a:avLst/>
          </a:prstGeom>
          <a:noFill/>
          <a:ln/>
        </p:spPr>
        <p:txBody>
          <a:bodyPr wrap="square" lIns="0" tIns="0" rIns="0" bIns="0" rtlCol="0" anchor="ctr">
            <a:normAutofit/>
          </a:bodyPr>
          <a:lstStyle/>
          <a:p>
            <a:pPr algn="ctr" indent="0" marL="0">
              <a:buNone/>
            </a:pPr>
            <a:r>
              <a:rPr lang="en-US" sz="1600" b="1" dirty="0">
                <a:solidFill>
                  <a:srgbClr val="102A43"/>
                </a:solidFill>
              </a:rPr>
              <a:t>Flux final : soumission -&gt; n8n -&gt; Gemini -&gt; feedback visible dans l’application.</a:t>
            </a:r>
            <a:endParaRPr lang="en-US" sz="1600" dirty="0"/>
          </a:p>
        </p:txBody>
      </p:sp>
      <p:sp>
        <p:nvSpPr>
          <p:cNvPr id="36" name="Text 33"/>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1:05</a:t>
            </a:r>
            <a:endParaRPr lang="en-US" sz="780" dirty="0"/>
          </a:p>
        </p:txBody>
      </p:sp>
      <p:sp>
        <p:nvSpPr>
          <p:cNvPr id="37" name="Text 34"/>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08 | Qualité</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Tests du projet</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685800" y="1417320"/>
            <a:ext cx="3429000" cy="2286000"/>
          </a:xfrm>
          <a:prstGeom prst="roundRect">
            <a:avLst>
              <a:gd name="adj" fmla="val 3200"/>
            </a:avLst>
          </a:prstGeom>
          <a:solidFill>
            <a:srgbClr val="FFFFFF"/>
          </a:solidFill>
          <a:ln w="12700">
            <a:solidFill>
              <a:srgbClr val="D8E4EE"/>
            </a:solidFill>
            <a:prstDash val="solid"/>
          </a:ln>
        </p:spPr>
      </p:sp>
      <p:sp>
        <p:nvSpPr>
          <p:cNvPr id="9" name="Shape 6"/>
          <p:cNvSpPr/>
          <p:nvPr/>
        </p:nvSpPr>
        <p:spPr>
          <a:xfrm>
            <a:off x="685800" y="1417320"/>
            <a:ext cx="73152" cy="2286000"/>
          </a:xfrm>
          <a:prstGeom prst="rect">
            <a:avLst/>
          </a:prstGeom>
          <a:solidFill>
            <a:srgbClr val="256FA8"/>
          </a:solidFill>
          <a:ln w="12700">
            <a:solidFill>
              <a:srgbClr val="256FA8"/>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Frontend</a:t>
            </a:r>
            <a:endParaRPr lang="en-US" sz="1600" dirty="0"/>
          </a:p>
        </p:txBody>
      </p:sp>
      <p:sp>
        <p:nvSpPr>
          <p:cNvPr id="11" name="Text 8"/>
          <p:cNvSpPr/>
          <p:nvPr/>
        </p:nvSpPr>
        <p:spPr>
          <a:xfrm>
            <a:off x="914400" y="2002536"/>
            <a:ext cx="3017520" cy="1536192"/>
          </a:xfrm>
          <a:prstGeom prst="rect">
            <a:avLst/>
          </a:prstGeom>
          <a:noFill/>
          <a:ln/>
        </p:spPr>
        <p:txBody>
          <a:bodyPr wrap="square" lIns="0" tIns="0" rIns="0" bIns="0" rtlCol="0" anchor="t">
            <a:normAutofit/>
          </a:bodyPr>
          <a:lstStyle/>
          <a:p>
            <a:pPr indent="0" marL="0">
              <a:buNone/>
            </a:pPr>
            <a:r>
              <a:rPr lang="en-US" sz="1400" dirty="0">
                <a:solidFill>
                  <a:srgbClr val="102A43"/>
                </a:solidFill>
              </a:rPr>
              <a:t>Vitest</a:t>
            </a:r>
            <a:endParaRPr lang="en-US" sz="1400" dirty="0"/>
          </a:p>
          <a:p>
            <a:pPr indent="0" marL="0">
              <a:buNone/>
            </a:pPr>
            <a:r>
              <a:rPr lang="en-US" sz="1400" dirty="0">
                <a:solidFill>
                  <a:srgbClr val="102A43"/>
                </a:solidFill>
              </a:rPr>
              <a:t>Composants React</a:t>
            </a:r>
            <a:endParaRPr lang="en-US" sz="1400" dirty="0"/>
          </a:p>
          <a:p>
            <a:pPr indent="0" marL="0">
              <a:buNone/>
            </a:pPr>
            <a:r>
              <a:rPr lang="en-US" sz="1400" dirty="0">
                <a:solidFill>
                  <a:srgbClr val="102A43"/>
                </a:solidFill>
              </a:rPr>
              <a:t>Login / logout</a:t>
            </a:r>
            <a:endParaRPr lang="en-US" sz="1400" dirty="0"/>
          </a:p>
          <a:p>
            <a:pPr indent="0" marL="0">
              <a:buNone/>
            </a:pPr>
            <a:r>
              <a:rPr lang="en-US" sz="1400" dirty="0">
                <a:solidFill>
                  <a:srgbClr val="102A43"/>
                </a:solidFill>
              </a:rPr>
              <a:t>Routes protégées</a:t>
            </a:r>
            <a:endParaRPr lang="en-US" sz="1400" dirty="0"/>
          </a:p>
        </p:txBody>
      </p:sp>
      <p:sp>
        <p:nvSpPr>
          <p:cNvPr id="12" name="Shape 9"/>
          <p:cNvSpPr/>
          <p:nvPr/>
        </p:nvSpPr>
        <p:spPr>
          <a:xfrm>
            <a:off x="4389120" y="1417320"/>
            <a:ext cx="3429000" cy="2286000"/>
          </a:xfrm>
          <a:prstGeom prst="roundRect">
            <a:avLst>
              <a:gd name="adj" fmla="val 3200"/>
            </a:avLst>
          </a:prstGeom>
          <a:solidFill>
            <a:srgbClr val="FFFFFF"/>
          </a:solidFill>
          <a:ln w="12700">
            <a:solidFill>
              <a:srgbClr val="D8E4EE"/>
            </a:solidFill>
            <a:prstDash val="solid"/>
          </a:ln>
        </p:spPr>
      </p:sp>
      <p:sp>
        <p:nvSpPr>
          <p:cNvPr id="13" name="Shape 10"/>
          <p:cNvSpPr/>
          <p:nvPr/>
        </p:nvSpPr>
        <p:spPr>
          <a:xfrm>
            <a:off x="4389120" y="1417320"/>
            <a:ext cx="73152" cy="2286000"/>
          </a:xfrm>
          <a:prstGeom prst="rect">
            <a:avLst/>
          </a:prstGeom>
          <a:solidFill>
            <a:srgbClr val="133B5C"/>
          </a:solidFill>
          <a:ln w="12700">
            <a:solidFill>
              <a:srgbClr val="133B5C"/>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Backend / API</a:t>
            </a:r>
            <a:endParaRPr lang="en-US" sz="1600" dirty="0"/>
          </a:p>
        </p:txBody>
      </p:sp>
      <p:sp>
        <p:nvSpPr>
          <p:cNvPr id="15" name="Text 12"/>
          <p:cNvSpPr/>
          <p:nvPr/>
        </p:nvSpPr>
        <p:spPr>
          <a:xfrm>
            <a:off x="4617720" y="2002536"/>
            <a:ext cx="3017520" cy="1536192"/>
          </a:xfrm>
          <a:prstGeom prst="rect">
            <a:avLst/>
          </a:prstGeom>
          <a:noFill/>
          <a:ln/>
        </p:spPr>
        <p:txBody>
          <a:bodyPr wrap="square" lIns="0" tIns="0" rIns="0" bIns="0" rtlCol="0" anchor="t">
            <a:normAutofit/>
          </a:bodyPr>
          <a:lstStyle/>
          <a:p>
            <a:pPr indent="0" marL="0">
              <a:buNone/>
            </a:pPr>
            <a:r>
              <a:rPr lang="en-US" sz="1400" dirty="0">
                <a:solidFill>
                  <a:srgbClr val="102A43"/>
                </a:solidFill>
              </a:rPr>
              <a:t>Vitest + Supertest</a:t>
            </a:r>
            <a:endParaRPr lang="en-US" sz="1400" dirty="0"/>
          </a:p>
          <a:p>
            <a:pPr indent="0" marL="0">
              <a:buNone/>
            </a:pPr>
            <a:r>
              <a:rPr lang="en-US" sz="1400" dirty="0">
                <a:solidFill>
                  <a:srgbClr val="102A43"/>
                </a:solidFill>
              </a:rPr>
              <a:t>Authentification</a:t>
            </a:r>
            <a:endParaRPr lang="en-US" sz="1400" dirty="0"/>
          </a:p>
          <a:p>
            <a:pPr indent="0" marL="0">
              <a:buNone/>
            </a:pPr>
            <a:r>
              <a:rPr lang="en-US" sz="1400" dirty="0">
                <a:solidFill>
                  <a:srgbClr val="102A43"/>
                </a:solidFill>
              </a:rPr>
              <a:t>Rôles</a:t>
            </a:r>
            <a:endParaRPr lang="en-US" sz="1400" dirty="0"/>
          </a:p>
          <a:p>
            <a:pPr indent="0" marL="0">
              <a:buNone/>
            </a:pPr>
            <a:r>
              <a:rPr lang="en-US" sz="1400" dirty="0">
                <a:solidFill>
                  <a:srgbClr val="102A43"/>
                </a:solidFill>
              </a:rPr>
              <a:t>Webhooks n8n</a:t>
            </a:r>
            <a:endParaRPr lang="en-US" sz="1400" dirty="0"/>
          </a:p>
        </p:txBody>
      </p:sp>
      <p:sp>
        <p:nvSpPr>
          <p:cNvPr id="16" name="Shape 13"/>
          <p:cNvSpPr/>
          <p:nvPr/>
        </p:nvSpPr>
        <p:spPr>
          <a:xfrm>
            <a:off x="8092440" y="1417320"/>
            <a:ext cx="3429000" cy="2286000"/>
          </a:xfrm>
          <a:prstGeom prst="roundRect">
            <a:avLst>
              <a:gd name="adj" fmla="val 3200"/>
            </a:avLst>
          </a:prstGeom>
          <a:solidFill>
            <a:srgbClr val="FFFFFF"/>
          </a:solidFill>
          <a:ln w="12700">
            <a:solidFill>
              <a:srgbClr val="D8E4EE"/>
            </a:solidFill>
            <a:prstDash val="solid"/>
          </a:ln>
        </p:spPr>
      </p:sp>
      <p:sp>
        <p:nvSpPr>
          <p:cNvPr id="17" name="Shape 14"/>
          <p:cNvSpPr/>
          <p:nvPr/>
        </p:nvSpPr>
        <p:spPr>
          <a:xfrm>
            <a:off x="8092440" y="1417320"/>
            <a:ext cx="73152" cy="228600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End-to-end</a:t>
            </a:r>
            <a:endParaRPr lang="en-US" sz="1600" dirty="0"/>
          </a:p>
        </p:txBody>
      </p:sp>
      <p:sp>
        <p:nvSpPr>
          <p:cNvPr id="19" name="Text 16"/>
          <p:cNvSpPr/>
          <p:nvPr/>
        </p:nvSpPr>
        <p:spPr>
          <a:xfrm>
            <a:off x="8321040" y="2002536"/>
            <a:ext cx="3017520" cy="1536192"/>
          </a:xfrm>
          <a:prstGeom prst="rect">
            <a:avLst/>
          </a:prstGeom>
          <a:noFill/>
          <a:ln/>
        </p:spPr>
        <p:txBody>
          <a:bodyPr wrap="square" lIns="0" tIns="0" rIns="0" bIns="0" rtlCol="0" anchor="t">
            <a:normAutofit/>
          </a:bodyPr>
          <a:lstStyle/>
          <a:p>
            <a:pPr indent="0" marL="0">
              <a:buNone/>
            </a:pPr>
            <a:r>
              <a:rPr lang="en-US" sz="1400" dirty="0">
                <a:solidFill>
                  <a:srgbClr val="102A43"/>
                </a:solidFill>
              </a:rPr>
              <a:t>Playwright</a:t>
            </a:r>
            <a:endParaRPr lang="en-US" sz="1400" dirty="0"/>
          </a:p>
          <a:p>
            <a:pPr indent="0" marL="0">
              <a:buNone/>
            </a:pPr>
            <a:r>
              <a:rPr lang="en-US" sz="1400" dirty="0">
                <a:solidFill>
                  <a:srgbClr val="102A43"/>
                </a:solidFill>
              </a:rPr>
              <a:t>Parcours complet :</a:t>
            </a:r>
            <a:endParaRPr lang="en-US" sz="1400" dirty="0"/>
          </a:p>
          <a:p>
            <a:pPr indent="0" marL="0">
              <a:buNone/>
            </a:pPr>
            <a:r>
              <a:rPr lang="en-US" sz="1400" dirty="0">
                <a:solidFill>
                  <a:srgbClr val="102A43"/>
                </a:solidFill>
              </a:rPr>
              <a:t>enseignant -&gt; étudiant -&gt; feedback</a:t>
            </a:r>
            <a:endParaRPr lang="en-US" sz="1400" dirty="0"/>
          </a:p>
        </p:txBody>
      </p:sp>
      <p:sp>
        <p:nvSpPr>
          <p:cNvPr id="20" name="Text 17"/>
          <p:cNvSpPr/>
          <p:nvPr/>
        </p:nvSpPr>
        <p:spPr>
          <a:xfrm>
            <a:off x="731520" y="4343400"/>
            <a:ext cx="3474720" cy="228600"/>
          </a:xfrm>
          <a:prstGeom prst="rect">
            <a:avLst/>
          </a:prstGeom>
          <a:noFill/>
          <a:ln/>
        </p:spPr>
        <p:txBody>
          <a:bodyPr wrap="square" lIns="0" tIns="0" rIns="0" bIns="0" rtlCol="0" anchor="ctr"/>
          <a:lstStyle/>
          <a:p>
            <a:pPr indent="0" marL="0">
              <a:buNone/>
            </a:pPr>
            <a:r>
              <a:rPr lang="en-US" sz="1600" b="1" dirty="0">
                <a:solidFill>
                  <a:srgbClr val="102A43"/>
                </a:solidFill>
              </a:rPr>
              <a:t>Ce que les tests vérifient</a:t>
            </a:r>
            <a:endParaRPr lang="en-US" sz="1600" dirty="0"/>
          </a:p>
        </p:txBody>
      </p:sp>
      <p:sp>
        <p:nvSpPr>
          <p:cNvPr id="21" name="Text 18"/>
          <p:cNvSpPr/>
          <p:nvPr/>
        </p:nvSpPr>
        <p:spPr>
          <a:xfrm>
            <a:off x="731520" y="4718304"/>
            <a:ext cx="10332720" cy="914400"/>
          </a:xfrm>
          <a:prstGeom prst="rect">
            <a:avLst/>
          </a:prstGeom>
          <a:noFill/>
          <a:ln/>
        </p:spPr>
        <p:txBody>
          <a:bodyPr wrap="square" lIns="254" tIns="254" rIns="254" bIns="254" rtlCol="0" anchor="t">
            <a:normAutofit/>
          </a:bodyPr>
          <a:lstStyle/>
          <a:p>
            <a:r>
              <a:rPr lang="en-US" sz="1450" dirty="0">
                <a:solidFill>
                  <a:srgbClr val="102A43"/>
                </a:solidFill>
              </a:rPr>
              <a:t>Interface et navigation</a:t>
            </a:r>
            <a:endParaRPr lang="en-US" sz="1450" dirty="0"/>
          </a:p>
          <a:p>
            <a:r>
              <a:rPr lang="en-US" sz="1450" dirty="0">
                <a:solidFill>
                  <a:srgbClr val="102A43"/>
                </a:solidFill>
              </a:rPr>
              <a:t>Authentification et rôles</a:t>
            </a:r>
            <a:endParaRPr lang="en-US" sz="1450" dirty="0"/>
          </a:p>
          <a:p>
            <a:r>
              <a:rPr lang="en-US" sz="1450" dirty="0">
                <a:solidFill>
                  <a:srgbClr val="102A43"/>
                </a:solidFill>
              </a:rPr>
              <a:t>API devoirs et soumissions</a:t>
            </a:r>
            <a:endParaRPr lang="en-US" sz="1450" dirty="0"/>
          </a:p>
          <a:p>
            <a:r>
              <a:rPr lang="en-US" sz="1450" dirty="0">
                <a:solidFill>
                  <a:srgbClr val="102A43"/>
                </a:solidFill>
              </a:rPr>
              <a:t>Callbacks n8n</a:t>
            </a:r>
            <a:endParaRPr lang="en-US" sz="1450" dirty="0"/>
          </a:p>
        </p:txBody>
      </p:sp>
      <p:sp>
        <p:nvSpPr>
          <p:cNvPr id="22" name="Text 19"/>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1:00</a:t>
            </a:r>
            <a:endParaRPr lang="en-US" sz="780" dirty="0"/>
          </a:p>
        </p:txBody>
      </p:sp>
      <p:sp>
        <p:nvSpPr>
          <p:cNvPr id="23" name="Text 20"/>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09 | Protection</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Sécurité</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685800" y="1417320"/>
            <a:ext cx="3429000" cy="3520440"/>
          </a:xfrm>
          <a:prstGeom prst="roundRect">
            <a:avLst>
              <a:gd name="adj" fmla="val 2133"/>
            </a:avLst>
          </a:prstGeom>
          <a:solidFill>
            <a:srgbClr val="FFFFFF"/>
          </a:solidFill>
          <a:ln w="12700">
            <a:solidFill>
              <a:srgbClr val="D8E4EE"/>
            </a:solidFill>
            <a:prstDash val="solid"/>
          </a:ln>
        </p:spPr>
      </p:sp>
      <p:sp>
        <p:nvSpPr>
          <p:cNvPr id="9" name="Shape 6"/>
          <p:cNvSpPr/>
          <p:nvPr/>
        </p:nvSpPr>
        <p:spPr>
          <a:xfrm>
            <a:off x="685800" y="1417320"/>
            <a:ext cx="73152" cy="3520440"/>
          </a:xfrm>
          <a:prstGeom prst="rect">
            <a:avLst/>
          </a:prstGeom>
          <a:solidFill>
            <a:srgbClr val="256FA8"/>
          </a:solidFill>
          <a:ln w="12700">
            <a:solidFill>
              <a:srgbClr val="256FA8"/>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Accès</a:t>
            </a:r>
            <a:endParaRPr lang="en-US" sz="1600" dirty="0"/>
          </a:p>
        </p:txBody>
      </p:sp>
      <p:sp>
        <p:nvSpPr>
          <p:cNvPr id="11" name="Text 8"/>
          <p:cNvSpPr/>
          <p:nvPr/>
        </p:nvSpPr>
        <p:spPr>
          <a:xfrm>
            <a:off x="914400" y="2002536"/>
            <a:ext cx="3017520" cy="2770632"/>
          </a:xfrm>
          <a:prstGeom prst="rect">
            <a:avLst/>
          </a:prstGeom>
          <a:noFill/>
          <a:ln/>
        </p:spPr>
        <p:txBody>
          <a:bodyPr wrap="square" lIns="0" tIns="0" rIns="0" bIns="0" rtlCol="0" anchor="t">
            <a:normAutofit/>
          </a:bodyPr>
          <a:lstStyle/>
          <a:p>
            <a:pPr indent="0" marL="0">
              <a:buNone/>
            </a:pPr>
            <a:r>
              <a:rPr lang="en-US" sz="1400" dirty="0">
                <a:solidFill>
                  <a:srgbClr val="102A43"/>
                </a:solidFill>
              </a:rPr>
              <a:t>JWT sessions</a:t>
            </a:r>
            <a:endParaRPr lang="en-US" sz="1400" dirty="0"/>
          </a:p>
          <a:p>
            <a:pPr indent="0" marL="0">
              <a:buNone/>
            </a:pPr>
            <a:r>
              <a:rPr lang="en-US" sz="1400" dirty="0">
                <a:solidFill>
                  <a:srgbClr val="102A43"/>
                </a:solidFill>
              </a:rPr>
              <a:t>bcryptjs passwords</a:t>
            </a:r>
            <a:endParaRPr lang="en-US" sz="1400" dirty="0"/>
          </a:p>
          <a:p>
            <a:pPr indent="0" marL="0">
              <a:buNone/>
            </a:pPr>
            <a:r>
              <a:rPr lang="en-US" sz="1400" dirty="0">
                <a:solidFill>
                  <a:srgbClr val="102A43"/>
                </a:solidFill>
              </a:rPr>
              <a:t>Routes protégées</a:t>
            </a:r>
            <a:endParaRPr lang="en-US" sz="1400" dirty="0"/>
          </a:p>
          <a:p>
            <a:pPr indent="0" marL="0">
              <a:buNone/>
            </a:pPr>
            <a:r>
              <a:rPr lang="en-US" sz="1400" dirty="0">
                <a:solidFill>
                  <a:srgbClr val="102A43"/>
                </a:solidFill>
              </a:rPr>
              <a:t>Rôles backend</a:t>
            </a:r>
            <a:endParaRPr lang="en-US" sz="1400" dirty="0"/>
          </a:p>
        </p:txBody>
      </p:sp>
      <p:sp>
        <p:nvSpPr>
          <p:cNvPr id="12" name="Shape 9"/>
          <p:cNvSpPr/>
          <p:nvPr/>
        </p:nvSpPr>
        <p:spPr>
          <a:xfrm>
            <a:off x="4389120" y="1417320"/>
            <a:ext cx="3429000" cy="3520440"/>
          </a:xfrm>
          <a:prstGeom prst="roundRect">
            <a:avLst>
              <a:gd name="adj" fmla="val 2133"/>
            </a:avLst>
          </a:prstGeom>
          <a:solidFill>
            <a:srgbClr val="FFFFFF"/>
          </a:solidFill>
          <a:ln w="12700">
            <a:solidFill>
              <a:srgbClr val="D8E4EE"/>
            </a:solidFill>
            <a:prstDash val="solid"/>
          </a:ln>
        </p:spPr>
      </p:sp>
      <p:sp>
        <p:nvSpPr>
          <p:cNvPr id="13" name="Shape 10"/>
          <p:cNvSpPr/>
          <p:nvPr/>
        </p:nvSpPr>
        <p:spPr>
          <a:xfrm>
            <a:off x="4389120" y="1417320"/>
            <a:ext cx="73152" cy="3520440"/>
          </a:xfrm>
          <a:prstGeom prst="rect">
            <a:avLst/>
          </a:prstGeom>
          <a:solidFill>
            <a:srgbClr val="51C4B8"/>
          </a:solidFill>
          <a:ln w="12700">
            <a:solidFill>
              <a:srgbClr val="51C4B8"/>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API</a:t>
            </a:r>
            <a:endParaRPr lang="en-US" sz="1600" dirty="0"/>
          </a:p>
        </p:txBody>
      </p:sp>
      <p:sp>
        <p:nvSpPr>
          <p:cNvPr id="15" name="Text 12"/>
          <p:cNvSpPr/>
          <p:nvPr/>
        </p:nvSpPr>
        <p:spPr>
          <a:xfrm>
            <a:off x="4617720" y="2002536"/>
            <a:ext cx="3017520" cy="2770632"/>
          </a:xfrm>
          <a:prstGeom prst="rect">
            <a:avLst/>
          </a:prstGeom>
          <a:noFill/>
          <a:ln/>
        </p:spPr>
        <p:txBody>
          <a:bodyPr wrap="square" lIns="0" tIns="0" rIns="0" bIns="0" rtlCol="0" anchor="t">
            <a:normAutofit/>
          </a:bodyPr>
          <a:lstStyle/>
          <a:p>
            <a:pPr indent="0" marL="0">
              <a:buNone/>
            </a:pPr>
            <a:r>
              <a:rPr lang="en-US" sz="1400" dirty="0">
                <a:solidFill>
                  <a:srgbClr val="102A43"/>
                </a:solidFill>
              </a:rPr>
              <a:t>Helmet headers</a:t>
            </a:r>
            <a:endParaRPr lang="en-US" sz="1400" dirty="0"/>
          </a:p>
          <a:p>
            <a:pPr indent="0" marL="0">
              <a:buNone/>
            </a:pPr>
            <a:r>
              <a:rPr lang="en-US" sz="1400" dirty="0">
                <a:solidFill>
                  <a:srgbClr val="102A43"/>
                </a:solidFill>
              </a:rPr>
              <a:t>CORS frontend</a:t>
            </a:r>
            <a:endParaRPr lang="en-US" sz="1400" dirty="0"/>
          </a:p>
          <a:p>
            <a:pPr indent="0" marL="0">
              <a:buNone/>
            </a:pPr>
            <a:r>
              <a:rPr lang="en-US" sz="1400" dirty="0">
                <a:solidFill>
                  <a:srgbClr val="102A43"/>
                </a:solidFill>
              </a:rPr>
              <a:t>Rate limiting</a:t>
            </a:r>
            <a:endParaRPr lang="en-US" sz="1400" dirty="0"/>
          </a:p>
          <a:p>
            <a:pPr indent="0" marL="0">
              <a:buNone/>
            </a:pPr>
            <a:r>
              <a:rPr lang="en-US" sz="1400" dirty="0">
                <a:solidFill>
                  <a:srgbClr val="102A43"/>
                </a:solidFill>
              </a:rPr>
              <a:t>Validation Zod</a:t>
            </a:r>
            <a:endParaRPr lang="en-US" sz="1400" dirty="0"/>
          </a:p>
        </p:txBody>
      </p:sp>
      <p:sp>
        <p:nvSpPr>
          <p:cNvPr id="16" name="Shape 13"/>
          <p:cNvSpPr/>
          <p:nvPr/>
        </p:nvSpPr>
        <p:spPr>
          <a:xfrm>
            <a:off x="8092440" y="1417320"/>
            <a:ext cx="3429000" cy="3520440"/>
          </a:xfrm>
          <a:prstGeom prst="roundRect">
            <a:avLst>
              <a:gd name="adj" fmla="val 2133"/>
            </a:avLst>
          </a:prstGeom>
          <a:solidFill>
            <a:srgbClr val="FFFFFF"/>
          </a:solidFill>
          <a:ln w="12700">
            <a:solidFill>
              <a:srgbClr val="D8E4EE"/>
            </a:solidFill>
            <a:prstDash val="solid"/>
          </a:ln>
        </p:spPr>
      </p:sp>
      <p:sp>
        <p:nvSpPr>
          <p:cNvPr id="17" name="Shape 14"/>
          <p:cNvSpPr/>
          <p:nvPr/>
        </p:nvSpPr>
        <p:spPr>
          <a:xfrm>
            <a:off x="8092440" y="1417320"/>
            <a:ext cx="73152" cy="3520440"/>
          </a:xfrm>
          <a:prstGeom prst="rect">
            <a:avLst/>
          </a:prstGeom>
          <a:solidFill>
            <a:srgbClr val="F0B44C"/>
          </a:solidFill>
          <a:ln w="12700">
            <a:solidFill>
              <a:srgbClr val="F0B44C"/>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Données</a:t>
            </a:r>
            <a:endParaRPr lang="en-US" sz="1600" dirty="0"/>
          </a:p>
        </p:txBody>
      </p:sp>
      <p:sp>
        <p:nvSpPr>
          <p:cNvPr id="19" name="Text 16"/>
          <p:cNvSpPr/>
          <p:nvPr/>
        </p:nvSpPr>
        <p:spPr>
          <a:xfrm>
            <a:off x="8321040" y="2002536"/>
            <a:ext cx="3017520" cy="2770632"/>
          </a:xfrm>
          <a:prstGeom prst="rect">
            <a:avLst/>
          </a:prstGeom>
          <a:noFill/>
          <a:ln/>
        </p:spPr>
        <p:txBody>
          <a:bodyPr wrap="square" lIns="0" tIns="0" rIns="0" bIns="0" rtlCol="0" anchor="t">
            <a:normAutofit/>
          </a:bodyPr>
          <a:lstStyle/>
          <a:p>
            <a:pPr indent="0" marL="0">
              <a:buNone/>
            </a:pPr>
            <a:r>
              <a:rPr lang="en-US" sz="1400" dirty="0">
                <a:solidFill>
                  <a:srgbClr val="102A43"/>
                </a:solidFill>
              </a:rPr>
              <a:t>Sanitization MongoDB</a:t>
            </a:r>
            <a:endParaRPr lang="en-US" sz="1400" dirty="0"/>
          </a:p>
          <a:p>
            <a:pPr indent="0" marL="0">
              <a:buNone/>
            </a:pPr>
            <a:r>
              <a:rPr lang="en-US" sz="1400" dirty="0">
                <a:solidFill>
                  <a:srgbClr val="102A43"/>
                </a:solidFill>
              </a:rPr>
              <a:t>Protection HPP</a:t>
            </a:r>
            <a:endParaRPr lang="en-US" sz="1400" dirty="0"/>
          </a:p>
          <a:p>
            <a:pPr indent="0" marL="0">
              <a:buNone/>
            </a:pPr>
            <a:r>
              <a:rPr lang="en-US" sz="1400" dirty="0">
                <a:solidFill>
                  <a:srgbClr val="102A43"/>
                </a:solidFill>
              </a:rPr>
              <a:t>Secret x-n8n-secret</a:t>
            </a:r>
            <a:endParaRPr lang="en-US" sz="1400" dirty="0"/>
          </a:p>
          <a:p>
            <a:pPr indent="0" marL="0">
              <a:buNone/>
            </a:pPr>
            <a:r>
              <a:rPr lang="en-US" sz="1400" dirty="0">
                <a:solidFill>
                  <a:srgbClr val="102A43"/>
                </a:solidFill>
              </a:rPr>
              <a:t>PDF + taille max</a:t>
            </a:r>
            <a:endParaRPr lang="en-US" sz="1400" dirty="0"/>
          </a:p>
        </p:txBody>
      </p:sp>
      <p:sp>
        <p:nvSpPr>
          <p:cNvPr id="20" name="Text 17"/>
          <p:cNvSpPr/>
          <p:nvPr/>
        </p:nvSpPr>
        <p:spPr>
          <a:xfrm>
            <a:off x="777240" y="5623560"/>
            <a:ext cx="10332720" cy="310896"/>
          </a:xfrm>
          <a:prstGeom prst="rect">
            <a:avLst/>
          </a:prstGeom>
          <a:noFill/>
          <a:ln/>
        </p:spPr>
        <p:txBody>
          <a:bodyPr wrap="square" lIns="0" tIns="0" rIns="0" bIns="0" rtlCol="0" anchor="ctr"/>
          <a:lstStyle/>
          <a:p>
            <a:pPr algn="ctr" indent="0" marL="0">
              <a:buNone/>
            </a:pPr>
            <a:r>
              <a:rPr lang="en-US" sz="1700" b="1" dirty="0">
                <a:solidFill>
                  <a:srgbClr val="102A43"/>
                </a:solidFill>
              </a:rPr>
              <a:t>Objectif : protéger les comptes, les API, les webhooks et les fichiers PDF.</a:t>
            </a:r>
            <a:endParaRPr lang="en-US" sz="1700" dirty="0"/>
          </a:p>
        </p:txBody>
      </p:sp>
      <p:sp>
        <p:nvSpPr>
          <p:cNvPr id="21" name="Text 18"/>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1:05</a:t>
            </a:r>
            <a:endParaRPr lang="en-US" sz="780" dirty="0"/>
          </a:p>
        </p:txBody>
      </p:sp>
      <p:sp>
        <p:nvSpPr>
          <p:cNvPr id="22" name="Text 19"/>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09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10 | Base MySQL</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Modèle de données</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sp>
        <p:nvSpPr>
          <p:cNvPr id="8" name="Shape 5"/>
          <p:cNvSpPr/>
          <p:nvPr/>
        </p:nvSpPr>
        <p:spPr>
          <a:xfrm>
            <a:off x="960120" y="1371600"/>
            <a:ext cx="1143000" cy="566928"/>
          </a:xfrm>
          <a:prstGeom prst="roundRect">
            <a:avLst>
              <a:gd name="adj" fmla="val 12903"/>
            </a:avLst>
          </a:prstGeom>
          <a:solidFill>
            <a:srgbClr val="133B5C"/>
          </a:solidFill>
          <a:ln w="12700">
            <a:solidFill>
              <a:srgbClr val="133B5C"/>
            </a:solidFill>
            <a:prstDash val="solid"/>
          </a:ln>
        </p:spPr>
      </p:sp>
      <p:sp>
        <p:nvSpPr>
          <p:cNvPr id="9" name="Text 6"/>
          <p:cNvSpPr/>
          <p:nvPr/>
        </p:nvSpPr>
        <p:spPr>
          <a:xfrm>
            <a:off x="1033272" y="1517904"/>
            <a:ext cx="9966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users</a:t>
            </a:r>
            <a:endParaRPr lang="en-US" sz="1150" dirty="0"/>
          </a:p>
        </p:txBody>
      </p:sp>
      <p:sp>
        <p:nvSpPr>
          <p:cNvPr id="10" name="Shape 7"/>
          <p:cNvSpPr/>
          <p:nvPr/>
        </p:nvSpPr>
        <p:spPr>
          <a:xfrm>
            <a:off x="960120" y="2331720"/>
            <a:ext cx="1143000" cy="566928"/>
          </a:xfrm>
          <a:prstGeom prst="roundRect">
            <a:avLst>
              <a:gd name="adj" fmla="val 12903"/>
            </a:avLst>
          </a:prstGeom>
          <a:solidFill>
            <a:srgbClr val="256FA8"/>
          </a:solidFill>
          <a:ln w="12700">
            <a:solidFill>
              <a:srgbClr val="256FA8"/>
            </a:solidFill>
            <a:prstDash val="solid"/>
          </a:ln>
        </p:spPr>
      </p:sp>
      <p:sp>
        <p:nvSpPr>
          <p:cNvPr id="11" name="Text 8"/>
          <p:cNvSpPr/>
          <p:nvPr/>
        </p:nvSpPr>
        <p:spPr>
          <a:xfrm>
            <a:off x="1033272" y="2478024"/>
            <a:ext cx="9966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students</a:t>
            </a:r>
            <a:endParaRPr lang="en-US" sz="1150" dirty="0"/>
          </a:p>
        </p:txBody>
      </p:sp>
      <p:sp>
        <p:nvSpPr>
          <p:cNvPr id="12" name="Shape 9"/>
          <p:cNvSpPr/>
          <p:nvPr/>
        </p:nvSpPr>
        <p:spPr>
          <a:xfrm>
            <a:off x="2834640" y="1371600"/>
            <a:ext cx="2057400" cy="566928"/>
          </a:xfrm>
          <a:prstGeom prst="roundRect">
            <a:avLst>
              <a:gd name="adj" fmla="val 12903"/>
            </a:avLst>
          </a:prstGeom>
          <a:solidFill>
            <a:srgbClr val="51C4B8"/>
          </a:solidFill>
          <a:ln w="12700">
            <a:solidFill>
              <a:srgbClr val="51C4B8"/>
            </a:solidFill>
            <a:prstDash val="solid"/>
          </a:ln>
        </p:spPr>
      </p:sp>
      <p:sp>
        <p:nvSpPr>
          <p:cNvPr id="13" name="Text 10"/>
          <p:cNvSpPr/>
          <p:nvPr/>
        </p:nvSpPr>
        <p:spPr>
          <a:xfrm>
            <a:off x="2907792" y="1517904"/>
            <a:ext cx="19110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assignments</a:t>
            </a:r>
            <a:endParaRPr lang="en-US" sz="1150" dirty="0"/>
          </a:p>
        </p:txBody>
      </p:sp>
      <p:sp>
        <p:nvSpPr>
          <p:cNvPr id="14" name="Shape 11"/>
          <p:cNvSpPr/>
          <p:nvPr/>
        </p:nvSpPr>
        <p:spPr>
          <a:xfrm>
            <a:off x="2834640" y="2331720"/>
            <a:ext cx="2057400" cy="566928"/>
          </a:xfrm>
          <a:prstGeom prst="roundRect">
            <a:avLst>
              <a:gd name="adj" fmla="val 12903"/>
            </a:avLst>
          </a:prstGeom>
          <a:solidFill>
            <a:srgbClr val="51C4B8"/>
          </a:solidFill>
          <a:ln w="12700">
            <a:solidFill>
              <a:srgbClr val="51C4B8"/>
            </a:solidFill>
            <a:prstDash val="solid"/>
          </a:ln>
        </p:spPr>
      </p:sp>
      <p:sp>
        <p:nvSpPr>
          <p:cNvPr id="15" name="Text 12"/>
          <p:cNvSpPr/>
          <p:nvPr/>
        </p:nvSpPr>
        <p:spPr>
          <a:xfrm>
            <a:off x="2907792" y="2478024"/>
            <a:ext cx="19110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questions</a:t>
            </a:r>
            <a:endParaRPr lang="en-US" sz="1150" dirty="0"/>
          </a:p>
        </p:txBody>
      </p:sp>
      <p:sp>
        <p:nvSpPr>
          <p:cNvPr id="16" name="Shape 13"/>
          <p:cNvSpPr/>
          <p:nvPr/>
        </p:nvSpPr>
        <p:spPr>
          <a:xfrm>
            <a:off x="5623560" y="1371600"/>
            <a:ext cx="2011680" cy="566928"/>
          </a:xfrm>
          <a:prstGeom prst="roundRect">
            <a:avLst>
              <a:gd name="adj" fmla="val 12903"/>
            </a:avLst>
          </a:prstGeom>
          <a:solidFill>
            <a:srgbClr val="F0B44C"/>
          </a:solidFill>
          <a:ln w="12700">
            <a:solidFill>
              <a:srgbClr val="F0B44C"/>
            </a:solidFill>
            <a:prstDash val="solid"/>
          </a:ln>
        </p:spPr>
      </p:sp>
      <p:sp>
        <p:nvSpPr>
          <p:cNvPr id="17" name="Text 14"/>
          <p:cNvSpPr/>
          <p:nvPr/>
        </p:nvSpPr>
        <p:spPr>
          <a:xfrm>
            <a:off x="5696712" y="1517904"/>
            <a:ext cx="186537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submissions</a:t>
            </a:r>
            <a:endParaRPr lang="en-US" sz="1150" dirty="0"/>
          </a:p>
        </p:txBody>
      </p:sp>
      <p:sp>
        <p:nvSpPr>
          <p:cNvPr id="18" name="Shape 15"/>
          <p:cNvSpPr/>
          <p:nvPr/>
        </p:nvSpPr>
        <p:spPr>
          <a:xfrm>
            <a:off x="5623560" y="2331720"/>
            <a:ext cx="2011680" cy="566928"/>
          </a:xfrm>
          <a:prstGeom prst="roundRect">
            <a:avLst>
              <a:gd name="adj" fmla="val 12903"/>
            </a:avLst>
          </a:prstGeom>
          <a:solidFill>
            <a:srgbClr val="F0B44C"/>
          </a:solidFill>
          <a:ln w="12700">
            <a:solidFill>
              <a:srgbClr val="F0B44C"/>
            </a:solidFill>
            <a:prstDash val="solid"/>
          </a:ln>
        </p:spPr>
      </p:sp>
      <p:sp>
        <p:nvSpPr>
          <p:cNvPr id="19" name="Text 16"/>
          <p:cNvSpPr/>
          <p:nvPr/>
        </p:nvSpPr>
        <p:spPr>
          <a:xfrm>
            <a:off x="5696712" y="2478024"/>
            <a:ext cx="186537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answers</a:t>
            </a:r>
            <a:endParaRPr lang="en-US" sz="1150" dirty="0"/>
          </a:p>
        </p:txBody>
      </p:sp>
      <p:sp>
        <p:nvSpPr>
          <p:cNvPr id="20" name="Shape 17"/>
          <p:cNvSpPr/>
          <p:nvPr/>
        </p:nvSpPr>
        <p:spPr>
          <a:xfrm>
            <a:off x="8366760" y="1371600"/>
            <a:ext cx="1828800" cy="566928"/>
          </a:xfrm>
          <a:prstGeom prst="roundRect">
            <a:avLst>
              <a:gd name="adj" fmla="val 12903"/>
            </a:avLst>
          </a:prstGeom>
          <a:solidFill>
            <a:srgbClr val="2E8B57"/>
          </a:solidFill>
          <a:ln w="12700">
            <a:solidFill>
              <a:srgbClr val="2E8B57"/>
            </a:solidFill>
            <a:prstDash val="solid"/>
          </a:ln>
        </p:spPr>
      </p:sp>
      <p:sp>
        <p:nvSpPr>
          <p:cNvPr id="21" name="Text 18"/>
          <p:cNvSpPr/>
          <p:nvPr/>
        </p:nvSpPr>
        <p:spPr>
          <a:xfrm>
            <a:off x="8439912" y="1517904"/>
            <a:ext cx="16824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analysis</a:t>
            </a:r>
            <a:endParaRPr lang="en-US" sz="1150" dirty="0"/>
          </a:p>
        </p:txBody>
      </p:sp>
      <p:sp>
        <p:nvSpPr>
          <p:cNvPr id="22" name="Shape 19"/>
          <p:cNvSpPr/>
          <p:nvPr/>
        </p:nvSpPr>
        <p:spPr>
          <a:xfrm>
            <a:off x="8366760" y="2331720"/>
            <a:ext cx="1828800" cy="566928"/>
          </a:xfrm>
          <a:prstGeom prst="roundRect">
            <a:avLst>
              <a:gd name="adj" fmla="val 12903"/>
            </a:avLst>
          </a:prstGeom>
          <a:solidFill>
            <a:srgbClr val="1B5E8C"/>
          </a:solidFill>
          <a:ln w="12700">
            <a:solidFill>
              <a:srgbClr val="1B5E8C"/>
            </a:solidFill>
            <a:prstDash val="solid"/>
          </a:ln>
        </p:spPr>
      </p:sp>
      <p:sp>
        <p:nvSpPr>
          <p:cNvPr id="23" name="Text 20"/>
          <p:cNvSpPr/>
          <p:nvPr/>
        </p:nvSpPr>
        <p:spPr>
          <a:xfrm>
            <a:off x="8439912" y="2478024"/>
            <a:ext cx="1682496" cy="40233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notifications</a:t>
            </a:r>
            <a:endParaRPr lang="en-US" sz="1150" dirty="0"/>
          </a:p>
        </p:txBody>
      </p:sp>
      <p:sp>
        <p:nvSpPr>
          <p:cNvPr id="24" name="Shape 21"/>
          <p:cNvSpPr/>
          <p:nvPr/>
        </p:nvSpPr>
        <p:spPr>
          <a:xfrm>
            <a:off x="2194560" y="1655064"/>
            <a:ext cx="548640" cy="0"/>
          </a:xfrm>
          <a:prstGeom prst="line">
            <a:avLst/>
          </a:prstGeom>
          <a:noFill/>
          <a:ln w="22860">
            <a:solidFill>
              <a:srgbClr val="256FA8"/>
            </a:solidFill>
            <a:prstDash val="solid"/>
            <a:headEnd type="none"/>
            <a:tailEnd type="triangle"/>
          </a:ln>
        </p:spPr>
      </p:sp>
      <p:sp>
        <p:nvSpPr>
          <p:cNvPr id="25" name="Shape 22"/>
          <p:cNvSpPr/>
          <p:nvPr/>
        </p:nvSpPr>
        <p:spPr>
          <a:xfrm>
            <a:off x="4983480" y="1655064"/>
            <a:ext cx="548640" cy="0"/>
          </a:xfrm>
          <a:prstGeom prst="line">
            <a:avLst/>
          </a:prstGeom>
          <a:noFill/>
          <a:ln w="22860">
            <a:solidFill>
              <a:srgbClr val="256FA8"/>
            </a:solidFill>
            <a:prstDash val="solid"/>
            <a:headEnd type="none"/>
            <a:tailEnd type="triangle"/>
          </a:ln>
        </p:spPr>
      </p:sp>
      <p:sp>
        <p:nvSpPr>
          <p:cNvPr id="26" name="Shape 23"/>
          <p:cNvSpPr/>
          <p:nvPr/>
        </p:nvSpPr>
        <p:spPr>
          <a:xfrm>
            <a:off x="7726680" y="1655064"/>
            <a:ext cx="548640" cy="0"/>
          </a:xfrm>
          <a:prstGeom prst="line">
            <a:avLst/>
          </a:prstGeom>
          <a:noFill/>
          <a:ln w="22860">
            <a:solidFill>
              <a:srgbClr val="256FA8"/>
            </a:solidFill>
            <a:prstDash val="solid"/>
            <a:headEnd type="none"/>
            <a:tailEnd type="triangle"/>
          </a:ln>
        </p:spPr>
      </p:sp>
      <p:sp>
        <p:nvSpPr>
          <p:cNvPr id="27" name="Shape 24"/>
          <p:cNvSpPr/>
          <p:nvPr/>
        </p:nvSpPr>
        <p:spPr>
          <a:xfrm>
            <a:off x="2194560" y="2615184"/>
            <a:ext cx="548640" cy="0"/>
          </a:xfrm>
          <a:prstGeom prst="line">
            <a:avLst/>
          </a:prstGeom>
          <a:noFill/>
          <a:ln w="22860">
            <a:solidFill>
              <a:srgbClr val="256FA8"/>
            </a:solidFill>
            <a:prstDash val="solid"/>
            <a:headEnd type="none"/>
            <a:tailEnd type="triangle"/>
          </a:ln>
        </p:spPr>
      </p:sp>
      <p:sp>
        <p:nvSpPr>
          <p:cNvPr id="28" name="Shape 25"/>
          <p:cNvSpPr/>
          <p:nvPr/>
        </p:nvSpPr>
        <p:spPr>
          <a:xfrm>
            <a:off x="4983480" y="2615184"/>
            <a:ext cx="548640" cy="0"/>
          </a:xfrm>
          <a:prstGeom prst="line">
            <a:avLst/>
          </a:prstGeom>
          <a:noFill/>
          <a:ln w="22860">
            <a:solidFill>
              <a:srgbClr val="256FA8"/>
            </a:solidFill>
            <a:prstDash val="solid"/>
            <a:headEnd type="none"/>
            <a:tailEnd type="triangle"/>
          </a:ln>
        </p:spPr>
      </p:sp>
      <p:sp>
        <p:nvSpPr>
          <p:cNvPr id="29" name="Shape 26"/>
          <p:cNvSpPr/>
          <p:nvPr/>
        </p:nvSpPr>
        <p:spPr>
          <a:xfrm>
            <a:off x="7726680" y="2615184"/>
            <a:ext cx="548640" cy="0"/>
          </a:xfrm>
          <a:prstGeom prst="line">
            <a:avLst/>
          </a:prstGeom>
          <a:noFill/>
          <a:ln w="22860">
            <a:solidFill>
              <a:srgbClr val="256FA8"/>
            </a:solidFill>
            <a:prstDash val="solid"/>
            <a:headEnd type="none"/>
            <a:tailEnd type="triangle"/>
          </a:ln>
        </p:spPr>
      </p:sp>
      <p:sp>
        <p:nvSpPr>
          <p:cNvPr id="30" name="Shape 27"/>
          <p:cNvSpPr/>
          <p:nvPr/>
        </p:nvSpPr>
        <p:spPr>
          <a:xfrm>
            <a:off x="960120" y="3977640"/>
            <a:ext cx="9235440" cy="1371600"/>
          </a:xfrm>
          <a:prstGeom prst="roundRect">
            <a:avLst>
              <a:gd name="adj" fmla="val 5333"/>
            </a:avLst>
          </a:prstGeom>
          <a:solidFill>
            <a:srgbClr val="FFFFFF"/>
          </a:solidFill>
          <a:ln w="12700">
            <a:solidFill>
              <a:srgbClr val="D8E4EE"/>
            </a:solidFill>
            <a:prstDash val="solid"/>
          </a:ln>
        </p:spPr>
      </p:sp>
      <p:sp>
        <p:nvSpPr>
          <p:cNvPr id="31" name="Shape 28"/>
          <p:cNvSpPr/>
          <p:nvPr/>
        </p:nvSpPr>
        <p:spPr>
          <a:xfrm>
            <a:off x="960120" y="3977640"/>
            <a:ext cx="73152" cy="1371600"/>
          </a:xfrm>
          <a:prstGeom prst="rect">
            <a:avLst/>
          </a:prstGeom>
          <a:solidFill>
            <a:srgbClr val="256FA8"/>
          </a:solidFill>
          <a:ln w="12700">
            <a:solidFill>
              <a:srgbClr val="256FA8"/>
            </a:solidFill>
            <a:prstDash val="solid"/>
          </a:ln>
        </p:spPr>
      </p:sp>
      <p:sp>
        <p:nvSpPr>
          <p:cNvPr id="32" name="Text 29"/>
          <p:cNvSpPr/>
          <p:nvPr/>
        </p:nvSpPr>
        <p:spPr>
          <a:xfrm>
            <a:off x="1188720" y="4142232"/>
            <a:ext cx="882396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Pourquoi ce modèle ?</a:t>
            </a:r>
            <a:endParaRPr lang="en-US" sz="1600" dirty="0"/>
          </a:p>
        </p:txBody>
      </p:sp>
      <p:sp>
        <p:nvSpPr>
          <p:cNvPr id="33" name="Text 30"/>
          <p:cNvSpPr/>
          <p:nvPr/>
        </p:nvSpPr>
        <p:spPr>
          <a:xfrm>
            <a:off x="1188720" y="4562856"/>
            <a:ext cx="8823960" cy="621792"/>
          </a:xfrm>
          <a:prstGeom prst="rect">
            <a:avLst/>
          </a:prstGeom>
          <a:noFill/>
          <a:ln/>
        </p:spPr>
        <p:txBody>
          <a:bodyPr wrap="square" lIns="0" tIns="0" rIns="0" bIns="0" rtlCol="0" anchor="t">
            <a:normAutofit/>
          </a:bodyPr>
          <a:lstStyle/>
          <a:p>
            <a:pPr indent="0" marL="0">
              <a:buNone/>
            </a:pPr>
            <a:r>
              <a:rPr lang="en-US" sz="1400" dirty="0">
                <a:solidFill>
                  <a:srgbClr val="102A43"/>
                </a:solidFill>
              </a:rPr>
              <a:t>Chaque information a sa place.</a:t>
            </a:r>
            <a:endParaRPr lang="en-US" sz="1400" dirty="0"/>
          </a:p>
          <a:p>
            <a:pPr indent="0" marL="0">
              <a:buNone/>
            </a:pPr>
            <a:r>
              <a:rPr lang="en-US" sz="1400" dirty="0">
                <a:solidFill>
                  <a:srgbClr val="102A43"/>
                </a:solidFill>
              </a:rPr>
              <a:t>Les dashboards restent simples.</a:t>
            </a:r>
            <a:endParaRPr lang="en-US" sz="1400" dirty="0"/>
          </a:p>
          <a:p>
            <a:pPr indent="0" marL="0">
              <a:buNone/>
            </a:pPr>
            <a:r>
              <a:rPr lang="en-US" sz="1400" dirty="0">
                <a:solidFill>
                  <a:srgbClr val="102A43"/>
                </a:solidFill>
              </a:rPr>
              <a:t>L’historique étudiant est facile à suivre.</a:t>
            </a:r>
            <a:endParaRPr lang="en-US" sz="1400" dirty="0"/>
          </a:p>
        </p:txBody>
      </p:sp>
      <p:sp>
        <p:nvSpPr>
          <p:cNvPr id="34" name="Text 31"/>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0:50</a:t>
            </a:r>
            <a:endParaRPr lang="en-US" sz="780" dirty="0"/>
          </a:p>
        </p:txBody>
      </p:sp>
      <p:sp>
        <p:nvSpPr>
          <p:cNvPr id="35" name="Text 32"/>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indent="0" marL="0">
              <a:buNone/>
            </a:pPr>
            <a:r>
              <a:rPr lang="en-US" sz="1000" b="1" dirty="0">
                <a:solidFill>
                  <a:srgbClr val="256FA8"/>
                </a:solidFill>
                <a:latin typeface="Aptos" pitchFamily="34" charset="0"/>
                <a:ea typeface="Aptos" pitchFamily="34" charset="-122"/>
                <a:cs typeface="Aptos" pitchFamily="34" charset="-120"/>
              </a:rPr>
              <a:t>11 | 10 minutes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Plan de démonstration en direct</a:t>
            </a:r>
            <a:endParaRPr lang="en-US" sz="2800" dirty="0"/>
          </a:p>
        </p:txBody>
      </p:sp>
      <p:pic>
        <p:nvPicPr>
          <p:cNvPr id="7"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28600"/>
            <a:ext cx="658368" cy="658368"/>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325880"/>
          <a:ext cx="10652760" cy="3977640"/>
        </p:xfrm>
        <a:graphic>
          <a:graphicData uri="http://schemas.openxmlformats.org/drawingml/2006/table">
            <a:tbl>
              <a:tblPr/>
              <a:tblGrid>
                <a:gridCol w="548640"/>
                <a:gridCol w="2011680"/>
                <a:gridCol w="8092440"/>
              </a:tblGrid>
              <a:tr h="662940">
                <a:tc>
                  <a:txBody>
                    <a:bodyPr/>
                    <a:lstStyle/>
                    <a:p>
                      <a:pPr indent="0" marL="0">
                        <a:buNone/>
                      </a:pPr>
                      <a:r>
                        <a:rPr lang="en-US" sz="1400" b="1" dirty="0">
                          <a:solidFill>
                            <a:srgbClr val="FFFFFF"/>
                          </a:solidFill>
                        </a:rPr>
                        <a:t>#</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tc>
                  <a:txBody>
                    <a:bodyPr/>
                    <a:lstStyle/>
                    <a:p>
                      <a:pPr indent="0" marL="0">
                        <a:buNone/>
                      </a:pPr>
                      <a:r>
                        <a:rPr lang="en-US" sz="1400" b="1" dirty="0">
                          <a:solidFill>
                            <a:srgbClr val="FFFFFF"/>
                          </a:solidFill>
                        </a:rPr>
                        <a:t>Étape</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tc>
                  <a:txBody>
                    <a:bodyPr/>
                    <a:lstStyle/>
                    <a:p>
                      <a:pPr indent="0" marL="0">
                        <a:buNone/>
                      </a:pPr>
                      <a:r>
                        <a:rPr lang="en-US" sz="1400" b="1" dirty="0">
                          <a:solidFill>
                            <a:srgbClr val="FFFFFF"/>
                          </a:solidFill>
                        </a:rPr>
                        <a:t>Ce que je montre</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tr>
              <a:tr h="662940">
                <a:tc>
                  <a:txBody>
                    <a:bodyPr/>
                    <a:lstStyle/>
                    <a:p>
                      <a:pPr indent="0" marL="0">
                        <a:buNone/>
                      </a:pPr>
                      <a:r>
                        <a:rPr lang="en-US" sz="1400" b="1" dirty="0">
                          <a:solidFill>
                            <a:srgbClr val="256FA8"/>
                          </a:solidFill>
                        </a:rPr>
                        <a:t>1</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02A43"/>
                          </a:solidFill>
                        </a:rPr>
                        <a:t>Connexion</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rPr>
                        <a:t>Compte enseignant puis compte étudiant.</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662940">
                <a:tc>
                  <a:txBody>
                    <a:bodyPr/>
                    <a:lstStyle/>
                    <a:p>
                      <a:pPr indent="0" marL="0">
                        <a:buNone/>
                      </a:pPr>
                      <a:r>
                        <a:rPr lang="en-US" sz="1400" b="1" dirty="0">
                          <a:solidFill>
                            <a:srgbClr val="256FA8"/>
                          </a:solidFill>
                        </a:rPr>
                        <a:t>2</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02A43"/>
                          </a:solidFill>
                        </a:rPr>
                        <a:t>Création</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rPr>
                        <a:t>Créer un devoir questionnaire ou PDF.</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662940">
                <a:tc>
                  <a:txBody>
                    <a:bodyPr/>
                    <a:lstStyle/>
                    <a:p>
                      <a:pPr indent="0" marL="0">
                        <a:buNone/>
                      </a:pPr>
                      <a:r>
                        <a:rPr lang="en-US" sz="1400" b="1" dirty="0">
                          <a:solidFill>
                            <a:srgbClr val="256FA8"/>
                          </a:solidFill>
                        </a:rPr>
                        <a:t>3</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02A43"/>
                          </a:solidFill>
                        </a:rPr>
                        <a:t>Soumission</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rPr>
                        <a:t>Envoyer une réponse texte/PDF.</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662940">
                <a:tc>
                  <a:txBody>
                    <a:bodyPr/>
                    <a:lstStyle/>
                    <a:p>
                      <a:pPr indent="0" marL="0">
                        <a:buNone/>
                      </a:pPr>
                      <a:r>
                        <a:rPr lang="en-US" sz="1400" b="1" dirty="0">
                          <a:solidFill>
                            <a:srgbClr val="256FA8"/>
                          </a:solidFill>
                        </a:rPr>
                        <a:t>4</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02A43"/>
                          </a:solidFill>
                        </a:rPr>
                        <a:t>Analyse</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rPr>
                        <a:t>Voir n8n et le retour Gemini.</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662940">
                <a:tc>
                  <a:txBody>
                    <a:bodyPr/>
                    <a:lstStyle/>
                    <a:p>
                      <a:pPr indent="0" marL="0">
                        <a:buNone/>
                      </a:pPr>
                      <a:r>
                        <a:rPr lang="en-US" sz="1400" b="1" dirty="0">
                          <a:solidFill>
                            <a:srgbClr val="256FA8"/>
                          </a:solidFill>
                        </a:rPr>
                        <a:t>5</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02A43"/>
                          </a:solidFill>
                        </a:rPr>
                        <a:t>Résultat</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rPr>
                        <a:t>Score, feedback, alertes, revue.</a:t>
                      </a:r>
                      <a:endParaRPr lang="en-US" sz="1400" dirty="0"/>
                    </a:p>
                  </a:txBody>
                  <a:tcPr marL="73152" marR="73152" marT="73152" marB="73152" anchor="mid">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bl>
          </a:graphicData>
        </a:graphic>
      </p:graphicFrame>
      <p:sp>
        <p:nvSpPr>
          <p:cNvPr id="9" name="Text 5"/>
          <p:cNvSpPr/>
          <p:nvPr/>
        </p:nvSpPr>
        <p:spPr>
          <a:xfrm>
            <a:off x="777240" y="5650992"/>
            <a:ext cx="4572000" cy="292608"/>
          </a:xfrm>
          <a:prstGeom prst="rect">
            <a:avLst/>
          </a:prstGeom>
          <a:noFill/>
          <a:ln/>
        </p:spPr>
        <p:txBody>
          <a:bodyPr wrap="square" lIns="0" tIns="0" rIns="0" bIns="0" rtlCol="0" anchor="ctr"/>
          <a:lstStyle/>
          <a:p>
            <a:pPr indent="0" marL="0">
              <a:buNone/>
            </a:pPr>
            <a:r>
              <a:rPr lang="en-US" sz="1600" b="1" dirty="0">
                <a:solidFill>
                  <a:srgbClr val="256FA8"/>
                </a:solidFill>
              </a:rPr>
              <a:t>Commande de lancement : npm run dev</a:t>
            </a:r>
            <a:endParaRPr lang="en-US" sz="1600" dirty="0"/>
          </a:p>
        </p:txBody>
      </p:sp>
      <p:sp>
        <p:nvSpPr>
          <p:cNvPr id="10" name="Text 6"/>
          <p:cNvSpPr/>
          <p:nvPr/>
        </p:nvSpPr>
        <p:spPr>
          <a:xfrm>
            <a:off x="777240" y="5989320"/>
            <a:ext cx="8961120" cy="201168"/>
          </a:xfrm>
          <a:prstGeom prst="rect">
            <a:avLst/>
          </a:prstGeom>
          <a:noFill/>
          <a:ln/>
        </p:spPr>
        <p:txBody>
          <a:bodyPr wrap="square" lIns="0" tIns="0" rIns="0" bIns="0" rtlCol="0" anchor="ctr"/>
          <a:lstStyle/>
          <a:p>
            <a:pPr indent="0" marL="0">
              <a:buNone/>
            </a:pPr>
            <a:r>
              <a:rPr lang="en-US" sz="1200" dirty="0">
                <a:solidFill>
                  <a:srgbClr val="102A43"/>
                </a:solidFill>
              </a:rPr>
              <a:t>Frontend : localhost:5173  |  Backend : localhost:5000  |  n8n : localhost:5678</a:t>
            </a:r>
            <a:endParaRPr lang="en-US" sz="1200" dirty="0"/>
          </a:p>
        </p:txBody>
      </p:sp>
      <p:sp>
        <p:nvSpPr>
          <p:cNvPr id="11" name="Text 7"/>
          <p:cNvSpPr/>
          <p:nvPr/>
        </p:nvSpPr>
        <p:spPr>
          <a:xfrm>
            <a:off x="502920" y="6446520"/>
            <a:ext cx="7315200" cy="201168"/>
          </a:xfrm>
          <a:prstGeom prst="rect">
            <a:avLst/>
          </a:prstGeom>
          <a:noFill/>
          <a:ln/>
        </p:spPr>
        <p:txBody>
          <a:bodyPr wrap="square" lIns="0" tIns="0" rIns="0" bIns="0" rtlCol="0" anchor="ctr"/>
          <a:lstStyle/>
          <a:p>
            <a:pPr indent="0" marL="0">
              <a:buNone/>
            </a:pPr>
            <a:r>
              <a:rPr lang="en-US" sz="780" dirty="0">
                <a:solidFill>
                  <a:srgbClr val="5F6C7B"/>
                </a:solidFill>
              </a:rPr>
              <a:t>Smart Academic Assistant  |  1:00</a:t>
            </a:r>
            <a:endParaRPr lang="en-US" sz="780" dirty="0"/>
          </a:p>
        </p:txBody>
      </p:sp>
      <p:sp>
        <p:nvSpPr>
          <p:cNvPr id="12" name="Text 8"/>
          <p:cNvSpPr/>
          <p:nvPr/>
        </p:nvSpPr>
        <p:spPr>
          <a:xfrm>
            <a:off x="11109960" y="6419088"/>
            <a:ext cx="457200" cy="228600"/>
          </a:xfrm>
          <a:prstGeom prst="rect">
            <a:avLst/>
          </a:prstGeom>
          <a:noFill/>
          <a:ln/>
        </p:spPr>
        <p:txBody>
          <a:bodyPr wrap="square" lIns="0" tIns="0" rIns="0" bIns="0" rtlCol="0" anchor="ctr"/>
          <a:lstStyle/>
          <a:p>
            <a:pPr algn="r" indent="0" marL="0">
              <a:buNone/>
            </a:pPr>
            <a:r>
              <a:rPr lang="en-US" sz="850" b="1" dirty="0">
                <a:solidFill>
                  <a:srgbClr val="256FA8"/>
                </a:solidFill>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3B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3B5C"/>
          </a:solidFill>
          <a:ln w="12700">
            <a:solidFill>
              <a:srgbClr val="133B5C"/>
            </a:solidFill>
            <a:prstDash val="solid"/>
          </a:ln>
        </p:spPr>
      </p:sp>
      <p:pic>
        <p:nvPicPr>
          <p:cNvPr id="3" name="Image 0" descr="Logo Smart Academic Assista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5800" y="594360"/>
            <a:ext cx="868680" cy="868680"/>
          </a:xfrm>
          <a:prstGeom prst="rect">
            <a:avLst/>
          </a:prstGeom>
        </p:spPr>
      </p:pic>
      <p:sp>
        <p:nvSpPr>
          <p:cNvPr id="4" name="Text 1"/>
          <p:cNvSpPr/>
          <p:nvPr/>
        </p:nvSpPr>
        <p:spPr>
          <a:xfrm>
            <a:off x="685800" y="1645920"/>
            <a:ext cx="4754880" cy="502920"/>
          </a:xfrm>
          <a:prstGeom prst="rect">
            <a:avLst/>
          </a:prstGeom>
          <a:noFill/>
          <a:ln/>
        </p:spPr>
        <p:txBody>
          <a:bodyPr wrap="square" lIns="0" tIns="0" rIns="0" bIns="0"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Conclusion</a:t>
            </a:r>
            <a:endParaRPr lang="en-US" sz="3400" dirty="0"/>
          </a:p>
        </p:txBody>
      </p:sp>
      <p:sp>
        <p:nvSpPr>
          <p:cNvPr id="5" name="Text 2"/>
          <p:cNvSpPr/>
          <p:nvPr/>
        </p:nvSpPr>
        <p:spPr>
          <a:xfrm>
            <a:off x="713232" y="2377440"/>
            <a:ext cx="7498080" cy="685800"/>
          </a:xfrm>
          <a:prstGeom prst="rect">
            <a:avLst/>
          </a:prstGeom>
          <a:noFill/>
          <a:ln/>
        </p:spPr>
        <p:txBody>
          <a:bodyPr wrap="square" lIns="0" tIns="0" rIns="0" bIns="0" rtlCol="0" anchor="ctr">
            <a:normAutofit/>
          </a:bodyPr>
          <a:lstStyle/>
          <a:p>
            <a:pPr indent="0" marL="0">
              <a:buNone/>
            </a:pPr>
            <a:r>
              <a:rPr lang="en-US" sz="2400" b="1" dirty="0">
                <a:solidFill>
                  <a:srgbClr val="DCEBF5"/>
                </a:solidFill>
              </a:rPr>
              <a:t>Une plateforme académique complète : devoirs, IA, sécurité et feedback.</a:t>
            </a:r>
            <a:endParaRPr lang="en-US" sz="2400" dirty="0"/>
          </a:p>
        </p:txBody>
      </p:sp>
      <p:sp>
        <p:nvSpPr>
          <p:cNvPr id="6" name="Shape 3"/>
          <p:cNvSpPr/>
          <p:nvPr/>
        </p:nvSpPr>
        <p:spPr>
          <a:xfrm>
            <a:off x="777240" y="3657600"/>
            <a:ext cx="4754880" cy="1920240"/>
          </a:xfrm>
          <a:prstGeom prst="roundRect">
            <a:avLst>
              <a:gd name="adj" fmla="val 3810"/>
            </a:avLst>
          </a:prstGeom>
          <a:solidFill>
            <a:srgbClr val="FFFFFF"/>
          </a:solidFill>
          <a:ln w="12700">
            <a:solidFill>
              <a:srgbClr val="D8E4EE"/>
            </a:solidFill>
            <a:prstDash val="solid"/>
          </a:ln>
        </p:spPr>
      </p:sp>
      <p:sp>
        <p:nvSpPr>
          <p:cNvPr id="7" name="Shape 4"/>
          <p:cNvSpPr/>
          <p:nvPr/>
        </p:nvSpPr>
        <p:spPr>
          <a:xfrm>
            <a:off x="777240" y="3657600"/>
            <a:ext cx="73152" cy="1920240"/>
          </a:xfrm>
          <a:prstGeom prst="rect">
            <a:avLst/>
          </a:prstGeom>
          <a:solidFill>
            <a:srgbClr val="51C4B8"/>
          </a:solidFill>
          <a:ln w="12700">
            <a:solidFill>
              <a:srgbClr val="51C4B8"/>
            </a:solidFill>
            <a:prstDash val="solid"/>
          </a:ln>
        </p:spPr>
      </p:sp>
      <p:sp>
        <p:nvSpPr>
          <p:cNvPr id="8" name="Text 5"/>
          <p:cNvSpPr/>
          <p:nvPr/>
        </p:nvSpPr>
        <p:spPr>
          <a:xfrm>
            <a:off x="1005840" y="3822192"/>
            <a:ext cx="434340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Points forts</a:t>
            </a:r>
            <a:endParaRPr lang="en-US" sz="1600" dirty="0"/>
          </a:p>
        </p:txBody>
      </p:sp>
      <p:sp>
        <p:nvSpPr>
          <p:cNvPr id="9" name="Text 6"/>
          <p:cNvSpPr/>
          <p:nvPr/>
        </p:nvSpPr>
        <p:spPr>
          <a:xfrm>
            <a:off x="1005840" y="4242816"/>
            <a:ext cx="434340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Full-stack complet</a:t>
            </a:r>
            <a:endParaRPr lang="en-US" sz="1400" dirty="0"/>
          </a:p>
          <a:p>
            <a:pPr indent="0" marL="0">
              <a:buNone/>
            </a:pPr>
            <a:r>
              <a:rPr lang="en-US" sz="1400" dirty="0">
                <a:solidFill>
                  <a:srgbClr val="102A43"/>
                </a:solidFill>
              </a:rPr>
              <a:t>IA séparée dans n8n</a:t>
            </a:r>
            <a:endParaRPr lang="en-US" sz="1400" dirty="0"/>
          </a:p>
          <a:p>
            <a:pPr indent="0" marL="0">
              <a:buNone/>
            </a:pPr>
            <a:r>
              <a:rPr lang="en-US" sz="1400" dirty="0">
                <a:solidFill>
                  <a:srgbClr val="102A43"/>
                </a:solidFill>
              </a:rPr>
              <a:t>Rôles clairs</a:t>
            </a:r>
            <a:endParaRPr lang="en-US" sz="1400" dirty="0"/>
          </a:p>
          <a:p>
            <a:pPr indent="0" marL="0">
              <a:buNone/>
            </a:pPr>
            <a:r>
              <a:rPr lang="en-US" sz="1400" dirty="0">
                <a:solidFill>
                  <a:srgbClr val="102A43"/>
                </a:solidFill>
              </a:rPr>
              <a:t>Feedback en français</a:t>
            </a:r>
            <a:endParaRPr lang="en-US" sz="1400" dirty="0"/>
          </a:p>
        </p:txBody>
      </p:sp>
      <p:sp>
        <p:nvSpPr>
          <p:cNvPr id="10" name="Shape 7"/>
          <p:cNvSpPr/>
          <p:nvPr/>
        </p:nvSpPr>
        <p:spPr>
          <a:xfrm>
            <a:off x="5943600" y="3657600"/>
            <a:ext cx="4754880" cy="1920240"/>
          </a:xfrm>
          <a:prstGeom prst="roundRect">
            <a:avLst>
              <a:gd name="adj" fmla="val 3810"/>
            </a:avLst>
          </a:prstGeom>
          <a:solidFill>
            <a:srgbClr val="FFFFFF"/>
          </a:solidFill>
          <a:ln w="12700">
            <a:solidFill>
              <a:srgbClr val="D8E4EE"/>
            </a:solidFill>
            <a:prstDash val="solid"/>
          </a:ln>
        </p:spPr>
      </p:sp>
      <p:sp>
        <p:nvSpPr>
          <p:cNvPr id="11" name="Shape 8"/>
          <p:cNvSpPr/>
          <p:nvPr/>
        </p:nvSpPr>
        <p:spPr>
          <a:xfrm>
            <a:off x="5943600" y="3657600"/>
            <a:ext cx="73152" cy="1920240"/>
          </a:xfrm>
          <a:prstGeom prst="rect">
            <a:avLst/>
          </a:prstGeom>
          <a:solidFill>
            <a:srgbClr val="F0B44C"/>
          </a:solidFill>
          <a:ln w="12700">
            <a:solidFill>
              <a:srgbClr val="F0B44C"/>
            </a:solidFill>
            <a:prstDash val="solid"/>
          </a:ln>
        </p:spPr>
      </p:sp>
      <p:sp>
        <p:nvSpPr>
          <p:cNvPr id="12" name="Text 9"/>
          <p:cNvSpPr/>
          <p:nvPr/>
        </p:nvSpPr>
        <p:spPr>
          <a:xfrm>
            <a:off x="6172200" y="3822192"/>
            <a:ext cx="4343400" cy="310896"/>
          </a:xfrm>
          <a:prstGeom prst="rect">
            <a:avLst/>
          </a:prstGeom>
          <a:noFill/>
          <a:ln/>
        </p:spPr>
        <p:txBody>
          <a:bodyPr wrap="square" lIns="0" tIns="0" rIns="0" bIns="0" rtlCol="0" anchor="ctr">
            <a:normAutofit/>
          </a:bodyPr>
          <a:lstStyle/>
          <a:p>
            <a:pPr indent="0" marL="0">
              <a:buNone/>
            </a:pPr>
            <a:r>
              <a:rPr lang="en-US" sz="1600" b="1" dirty="0">
                <a:solidFill>
                  <a:srgbClr val="102A43"/>
                </a:solidFill>
              </a:rPr>
              <a:t>Perspectives</a:t>
            </a:r>
            <a:endParaRPr lang="en-US" sz="1600" dirty="0"/>
          </a:p>
        </p:txBody>
      </p:sp>
      <p:sp>
        <p:nvSpPr>
          <p:cNvPr id="13" name="Text 10"/>
          <p:cNvSpPr/>
          <p:nvPr/>
        </p:nvSpPr>
        <p:spPr>
          <a:xfrm>
            <a:off x="6172200" y="4242816"/>
            <a:ext cx="4343400" cy="1170432"/>
          </a:xfrm>
          <a:prstGeom prst="rect">
            <a:avLst/>
          </a:prstGeom>
          <a:noFill/>
          <a:ln/>
        </p:spPr>
        <p:txBody>
          <a:bodyPr wrap="square" lIns="0" tIns="0" rIns="0" bIns="0" rtlCol="0" anchor="t">
            <a:normAutofit/>
          </a:bodyPr>
          <a:lstStyle/>
          <a:p>
            <a:pPr indent="0" marL="0">
              <a:buNone/>
            </a:pPr>
            <a:r>
              <a:rPr lang="en-US" sz="1400" dirty="0">
                <a:solidFill>
                  <a:srgbClr val="102A43"/>
                </a:solidFill>
              </a:rPr>
              <a:t>Rapports PDF</a:t>
            </a:r>
            <a:endParaRPr lang="en-US" sz="1400" dirty="0"/>
          </a:p>
          <a:p>
            <a:pPr indent="0" marL="0">
              <a:buNone/>
            </a:pPr>
            <a:r>
              <a:rPr lang="en-US" sz="1400" dirty="0">
                <a:solidFill>
                  <a:srgbClr val="102A43"/>
                </a:solidFill>
              </a:rPr>
              <a:t>Progression étudiant</a:t>
            </a:r>
            <a:endParaRPr lang="en-US" sz="1400" dirty="0"/>
          </a:p>
          <a:p>
            <a:pPr indent="0" marL="0">
              <a:buNone/>
            </a:pPr>
            <a:r>
              <a:rPr lang="en-US" sz="1400" dirty="0">
                <a:solidFill>
                  <a:srgbClr val="102A43"/>
                </a:solidFill>
              </a:rPr>
              <a:t>Scoring IA amélioré</a:t>
            </a:r>
            <a:endParaRPr lang="en-US" sz="1400" dirty="0"/>
          </a:p>
          <a:p>
            <a:pPr indent="0" marL="0">
              <a:buNone/>
            </a:pPr>
            <a:r>
              <a:rPr lang="en-US" sz="1400" dirty="0">
                <a:solidFill>
                  <a:srgbClr val="102A43"/>
                </a:solidFill>
              </a:rPr>
              <a:t>Notifications temps réel</a:t>
            </a:r>
            <a:endParaRPr lang="en-US" sz="1400" dirty="0"/>
          </a:p>
        </p:txBody>
      </p:sp>
      <p:sp>
        <p:nvSpPr>
          <p:cNvPr id="14" name="Text 11"/>
          <p:cNvSpPr/>
          <p:nvPr/>
        </p:nvSpPr>
        <p:spPr>
          <a:xfrm>
            <a:off x="713232" y="6080760"/>
            <a:ext cx="5029200" cy="292608"/>
          </a:xfrm>
          <a:prstGeom prst="rect">
            <a:avLst/>
          </a:prstGeom>
          <a:noFill/>
          <a:ln/>
        </p:spPr>
        <p:txBody>
          <a:bodyPr wrap="square" lIns="0" tIns="0" rIns="0" bIns="0" rtlCol="0" anchor="ctr"/>
          <a:lstStyle/>
          <a:p>
            <a:pPr indent="0" marL="0">
              <a:buNone/>
            </a:pPr>
            <a:r>
              <a:rPr lang="en-US" sz="1800" b="1" dirty="0">
                <a:solidFill>
                  <a:srgbClr val="F0B44C"/>
                </a:solidFill>
              </a:rPr>
              <a:t>Merci pour votre attention</a:t>
            </a:r>
            <a:endParaRPr lang="en-US" sz="1800" dirty="0"/>
          </a:p>
        </p:txBody>
      </p:sp>
      <p:sp>
        <p:nvSpPr>
          <p:cNvPr id="15" name="Text 12"/>
          <p:cNvSpPr/>
          <p:nvPr/>
        </p:nvSpPr>
        <p:spPr>
          <a:xfrm>
            <a:off x="9326880" y="6062472"/>
            <a:ext cx="1554480" cy="320040"/>
          </a:xfrm>
          <a:prstGeom prst="rect">
            <a:avLst/>
          </a:prstGeom>
          <a:noFill/>
          <a:ln/>
        </p:spPr>
        <p:txBody>
          <a:bodyPr wrap="square" lIns="0" tIns="0" rIns="0" bIns="0" rtlCol="0" anchor="ctr"/>
          <a:lstStyle/>
          <a:p>
            <a:pPr algn="r" indent="0" marL="0">
              <a:buNone/>
            </a:pPr>
            <a:r>
              <a:rPr lang="en-US" sz="2000" b="1" dirty="0">
                <a:solidFill>
                  <a:srgbClr val="FFFFFF"/>
                </a:solidFill>
              </a:rPr>
              <a:t>Questions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Academic Assistant - Presentation PFE</dc:title>
  <dc:subject>Presentation PFE 10 minutes</dc:subject>
  <dc:creator>Smart Academic Assistant</dc:creator>
  <cp:lastModifiedBy>Smart Academic Assistant</cp:lastModifiedBy>
  <cp:revision>1</cp:revision>
  <dcterms:created xsi:type="dcterms:W3CDTF">2026-05-16T18:15:48Z</dcterms:created>
  <dcterms:modified xsi:type="dcterms:W3CDTF">2026-05-16T18:15:48Z</dcterms:modified>
</cp:coreProperties>
</file>